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68"/>
  </p:notesMasterIdLst>
  <p:handoutMasterIdLst>
    <p:handoutMasterId r:id="rId69"/>
  </p:handoutMasterIdLst>
  <p:sldIdLst>
    <p:sldId id="376" r:id="rId2"/>
    <p:sldId id="442" r:id="rId3"/>
    <p:sldId id="444" r:id="rId4"/>
    <p:sldId id="443" r:id="rId5"/>
    <p:sldId id="389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3" r:id="rId20"/>
    <p:sldId id="404" r:id="rId21"/>
    <p:sldId id="405" r:id="rId22"/>
    <p:sldId id="406" r:id="rId23"/>
    <p:sldId id="407" r:id="rId24"/>
    <p:sldId id="408" r:id="rId25"/>
    <p:sldId id="409" r:id="rId26"/>
    <p:sldId id="410" r:id="rId27"/>
    <p:sldId id="411" r:id="rId28"/>
    <p:sldId id="412" r:id="rId29"/>
    <p:sldId id="445" r:id="rId30"/>
    <p:sldId id="446" r:id="rId31"/>
    <p:sldId id="447" r:id="rId32"/>
    <p:sldId id="413" r:id="rId33"/>
    <p:sldId id="414" r:id="rId34"/>
    <p:sldId id="415" r:id="rId35"/>
    <p:sldId id="416" r:id="rId36"/>
    <p:sldId id="420" r:id="rId37"/>
    <p:sldId id="377" r:id="rId38"/>
    <p:sldId id="378" r:id="rId39"/>
    <p:sldId id="379" r:id="rId40"/>
    <p:sldId id="380" r:id="rId41"/>
    <p:sldId id="381" r:id="rId42"/>
    <p:sldId id="421" r:id="rId43"/>
    <p:sldId id="383" r:id="rId44"/>
    <p:sldId id="384" r:id="rId45"/>
    <p:sldId id="385" r:id="rId46"/>
    <p:sldId id="386" r:id="rId47"/>
    <p:sldId id="422" r:id="rId48"/>
    <p:sldId id="423" r:id="rId49"/>
    <p:sldId id="424" r:id="rId50"/>
    <p:sldId id="425" r:id="rId51"/>
    <p:sldId id="426" r:id="rId52"/>
    <p:sldId id="427" r:id="rId53"/>
    <p:sldId id="428" r:id="rId54"/>
    <p:sldId id="429" r:id="rId55"/>
    <p:sldId id="430" r:id="rId56"/>
    <p:sldId id="431" r:id="rId57"/>
    <p:sldId id="432" r:id="rId58"/>
    <p:sldId id="433" r:id="rId59"/>
    <p:sldId id="434" r:id="rId60"/>
    <p:sldId id="435" r:id="rId61"/>
    <p:sldId id="441" r:id="rId62"/>
    <p:sldId id="436" r:id="rId63"/>
    <p:sldId id="437" r:id="rId64"/>
    <p:sldId id="438" r:id="rId65"/>
    <p:sldId id="439" r:id="rId66"/>
    <p:sldId id="440" r:id="rId67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3KwJRYd70EqsMd84GYGqng==" hashData="K8tlKieKadDUWBQbZG8i1udrhIExbDSmtNbWiu4BM5zk5iyv6RjbMUxo/p6r/ulKdRflPnv8mxSFSuaucJNXeA=="/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234584"/>
    <a:srgbClr val="96B8FF"/>
    <a:srgbClr val="008000"/>
    <a:srgbClr val="006600"/>
    <a:srgbClr val="003399"/>
    <a:srgbClr val="000099"/>
    <a:srgbClr val="0033CC"/>
    <a:srgbClr val="CE0702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6953" autoAdjust="0"/>
  </p:normalViewPr>
  <p:slideViewPr>
    <p:cSldViewPr>
      <p:cViewPr varScale="1">
        <p:scale>
          <a:sx n="149" d="100"/>
          <a:sy n="149" d="100"/>
        </p:scale>
        <p:origin x="288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148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1B1B2-FD30-42CC-8609-2C9F090AD07F}" type="datetimeFigureOut">
              <a:rPr lang="pt-BR" smtClean="0"/>
              <a:pPr/>
              <a:t>03/10/2019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321226-4950-4A06-A21F-E15E3CADEB6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86578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v"/>
        </inkml:traceFormat>
        <inkml:channelProperties>
          <inkml:channelProperty channel="X" name="resolution" value="5654.35693" units="1/cm"/>
          <inkml:channelProperty channel="Y" name="resolution" value="9046.65918" units="1/cm"/>
          <inkml:channelProperty channel="F" name="resolution" value="2.82441E-6" units="1/dev"/>
        </inkml:channelProperties>
      </inkml:inkSource>
      <inkml:timestamp xml:id="ts0" timeString="2013-12-22T15:15:51.73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56 4,'30'-17'2,"1"7"17,-2-1-27,1 3 9,-1-2-19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v"/>
        </inkml:traceFormat>
        <inkml:channelProperties>
          <inkml:channelProperty channel="X" name="resolution" value="5654.35693" units="1/cm"/>
          <inkml:channelProperty channel="Y" name="resolution" value="9046.65918" units="1/cm"/>
          <inkml:channelProperty channel="F" name="resolution" value="2.82441E-6" units="1/dev"/>
        </inkml:channelProperties>
      </inkml:inkSource>
      <inkml:timestamp xml:id="ts0" timeString="2013-12-22T15:16:07.67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43 8 31,'-22'-3'-9,"1"-2"20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64303-FDB9-49DD-B6AB-93FB1A784DD9}" type="datetimeFigureOut">
              <a:rPr lang="pt-BR" smtClean="0"/>
              <a:pPr/>
              <a:t>03/10/2019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C7B7FC-D94D-4A8A-BDE8-6A93F372643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97507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7B7FC-D94D-4A8A-BDE8-6A93F372643C}" type="slidenum">
              <a:rPr lang="pt-BR" smtClean="0"/>
              <a:pPr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520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7B7FC-D94D-4A8A-BDE8-6A93F372643C}" type="slidenum">
              <a:rPr lang="pt-BR" smtClean="0"/>
              <a:pPr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228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7B7FC-D94D-4A8A-BDE8-6A93F372643C}" type="slidenum">
              <a:rPr lang="pt-BR" smtClean="0"/>
              <a:pPr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1903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3555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1203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3389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2972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3238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3484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8032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9549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3808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51820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98479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77430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01820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30247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59807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50246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20689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8331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05662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60235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62837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52526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75886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65101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60921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83490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108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44387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15338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18048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15848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2295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87160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41653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22449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87632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511115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75350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15989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173978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958512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114576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7785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607631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87360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601673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781067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507017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8" name="Google Shape;598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309878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0" name="Google Shape;730;p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0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959457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4" name="Google Shape;754;p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827816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6" name="Google Shape;976;p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1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302881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8" name="Google Shape;988;p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146950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0" name="Google Shape;1090;p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1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967689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8" name="Google Shape;1138;p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1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504990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4" name="Google Shape;1634;p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2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426958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4" name="Google Shape;1634;p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2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919130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4" name="Google Shape;1634;p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2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867585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4" name="Google Shape;1634;p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2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555620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4" name="Google Shape;1634;p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2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156714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4" name="Google Shape;1634;p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2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878903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4" name="Google Shape;1634;p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2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462787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4" name="Google Shape;1634;p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2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2748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45C93-0C39-4ACD-923F-3E095F09F9E9}" type="datetime1">
              <a:rPr lang="pt-BR" smtClean="0"/>
              <a:pPr/>
              <a:t>03/10/2019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2AAD-C6C1-40B1-8C3A-3143E35890C2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98D3F-4BF3-4056-8ED3-D8EFB039C973}" type="datetime1">
              <a:rPr lang="pt-BR" smtClean="0"/>
              <a:pPr/>
              <a:t>03/10/2019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2AAD-C6C1-40B1-8C3A-3143E35890C2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54F7-1576-4FD7-AB15-210A59CA1F3E}" type="datetime1">
              <a:rPr lang="pt-BR" smtClean="0"/>
              <a:pPr/>
              <a:t>03/10/2019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2AAD-C6C1-40B1-8C3A-3143E35890C2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03B66-7125-4DB3-8FBA-297446F79A50}" type="datetime1">
              <a:rPr lang="pt-BR" smtClean="0"/>
              <a:pPr/>
              <a:t>03/10/2019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2AAD-C6C1-40B1-8C3A-3143E35890C2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22FDA-9365-43B0-9F1F-BD7E3C456583}" type="datetime1">
              <a:rPr lang="pt-BR" smtClean="0"/>
              <a:pPr/>
              <a:t>03/10/2019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2AAD-C6C1-40B1-8C3A-3143E35890C2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E8152-CC9C-49B4-A9FA-B3ACA18BF76E}" type="datetime1">
              <a:rPr lang="pt-BR" smtClean="0"/>
              <a:pPr/>
              <a:t>03/10/2019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2AAD-C6C1-40B1-8C3A-3143E35890C2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6D06C-3BC0-4826-B94F-53B94033CA17}" type="datetime1">
              <a:rPr lang="pt-BR" smtClean="0"/>
              <a:pPr/>
              <a:t>03/10/2019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2AAD-C6C1-40B1-8C3A-3143E35890C2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42C5B-4CC0-4F99-B6E6-CE58C1EF0FED}" type="datetime1">
              <a:rPr lang="pt-BR" smtClean="0"/>
              <a:pPr/>
              <a:t>03/10/2019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2AAD-C6C1-40B1-8C3A-3143E35890C2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0EE9-826E-443C-80BB-D7BBB9F61184}" type="datetime1">
              <a:rPr lang="pt-BR" smtClean="0"/>
              <a:pPr/>
              <a:t>03/10/2019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2AAD-C6C1-40B1-8C3A-3143E35890C2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7F32-15D0-4408-9D2D-555325755275}" type="datetime1">
              <a:rPr lang="pt-BR" smtClean="0"/>
              <a:pPr/>
              <a:t>03/10/2019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2AAD-C6C1-40B1-8C3A-3143E35890C2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EBFE-1A1B-4617-99C0-BFBE815556BE}" type="datetime1">
              <a:rPr lang="pt-BR" smtClean="0"/>
              <a:pPr/>
              <a:t>03/10/2019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A2AAD-C6C1-40B1-8C3A-3143E35890C2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FF0E2-B3EC-4F90-A09C-620B163CD7BE}" type="datetime1">
              <a:rPr lang="pt-BR" smtClean="0"/>
              <a:pPr/>
              <a:t>03/10/2019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A2AAD-C6C1-40B1-8C3A-3143E35890C2}" type="slidenum">
              <a:rPr lang="pt-BR" smtClean="0"/>
              <a:pPr/>
              <a:t>‹nº›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25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customXml" Target="../ink/ink2.xml"/><Relationship Id="rId4" Type="http://schemas.openxmlformats.org/officeDocument/2006/relationships/image" Target="../media/image36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483046"/>
            <a:ext cx="4114800" cy="3340608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2406376"/>
            <a:ext cx="4584294" cy="1290159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1357997" y="627534"/>
            <a:ext cx="69415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Infrações e Penalidades</a:t>
            </a:r>
            <a:endParaRPr lang="pt-B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1904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431838" cy="484816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214282" y="577298"/>
            <a:ext cx="41416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Conceitos e Definições</a:t>
            </a:r>
            <a:endParaRPr lang="pt-BR" sz="2200" b="1" dirty="0"/>
          </a:p>
        </p:txBody>
      </p:sp>
      <p:sp>
        <p:nvSpPr>
          <p:cNvPr id="16" name="Retângulo 15"/>
          <p:cNvSpPr/>
          <p:nvPr/>
        </p:nvSpPr>
        <p:spPr>
          <a:xfrm>
            <a:off x="3419872" y="1923678"/>
            <a:ext cx="5350440" cy="20882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0" tIns="108000" rIns="180000" bIns="108000" rtlCol="0" anchor="ctr"/>
          <a:lstStyle/>
          <a:p>
            <a:pPr algn="just"/>
            <a:endParaRPr lang="pt-BR" sz="2500" i="1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pt-BR" sz="2200" i="1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...é a inobservância de qualquer preceito deste código, da legislação complementar </a:t>
            </a:r>
            <a:r>
              <a:rPr lang="pt-BR" sz="2200" i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ou das resoluções do CONTRAN</a:t>
            </a:r>
            <a:r>
              <a:rPr lang="pt-BR" sz="2200" i="1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 [...].</a:t>
            </a:r>
            <a:r>
              <a:rPr lang="pt-BR" sz="2500" i="1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000" i="1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(CTB, art. 161)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3419872" y="1923678"/>
            <a:ext cx="5350440" cy="556646"/>
          </a:xfrm>
          <a:prstGeom prst="rect">
            <a:avLst/>
          </a:prstGeom>
          <a:solidFill>
            <a:srgbClr val="2345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5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INFRAÇÃO DE TRÂNSITO</a:t>
            </a:r>
            <a:endParaRPr lang="pt-BR" sz="25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4"/>
          <a:srcRect l="18572" t="30265" r="52104" b="22816"/>
          <a:stretch/>
        </p:blipFill>
        <p:spPr>
          <a:xfrm>
            <a:off x="467544" y="1779662"/>
            <a:ext cx="2480275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28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857488" y="3147814"/>
            <a:ext cx="6286512" cy="35719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i="1" dirty="0" smtClean="0">
                <a:latin typeface="Calibri" pitchFamily="34" charset="0"/>
                <a:cs typeface="Calibri" pitchFamily="34" charset="0"/>
              </a:rPr>
              <a:t>Responsabilidade pela Infração </a:t>
            </a:r>
            <a:r>
              <a:rPr lang="pt-BR" sz="1000" b="1" i="1" dirty="0" smtClean="0">
                <a:latin typeface="Calibri" pitchFamily="34" charset="0"/>
                <a:cs typeface="Calibri" pitchFamily="34" charset="0"/>
              </a:rPr>
              <a:t>[CTB, art. 257)</a:t>
            </a:r>
            <a:endParaRPr lang="pt-BR" sz="1000" b="1" i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6156176" y="3719318"/>
            <a:ext cx="2786082" cy="357190"/>
          </a:xfrm>
          <a:prstGeom prst="rect">
            <a:avLst/>
          </a:prstGeom>
          <a:solidFill>
            <a:srgbClr val="0066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pt-BR" sz="20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Embarcador</a:t>
            </a:r>
            <a:endParaRPr lang="pt-BR" sz="2000" b="1" i="1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6156176" y="4290822"/>
            <a:ext cx="2786082" cy="357190"/>
          </a:xfrm>
          <a:prstGeom prst="rect">
            <a:avLst/>
          </a:prstGeom>
          <a:solidFill>
            <a:srgbClr val="0066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pt-BR" sz="20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Transportador</a:t>
            </a:r>
            <a:endParaRPr lang="pt-BR" sz="2000" b="1" i="1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2866608" y="3719318"/>
            <a:ext cx="2857520" cy="357190"/>
          </a:xfrm>
          <a:prstGeom prst="rect">
            <a:avLst/>
          </a:prstGeom>
          <a:solidFill>
            <a:srgbClr val="0066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pt-BR" sz="20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Proprietário do Veículo</a:t>
            </a:r>
            <a:endParaRPr lang="pt-BR" sz="2000" b="1" i="1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2866608" y="4290822"/>
            <a:ext cx="2857520" cy="357190"/>
          </a:xfrm>
          <a:prstGeom prst="rect">
            <a:avLst/>
          </a:prstGeom>
          <a:solidFill>
            <a:srgbClr val="0066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pt-BR" sz="20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Condutor</a:t>
            </a:r>
            <a:endParaRPr lang="pt-BR" sz="2000" b="1" i="1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" name="Imagem 9" descr="voce sabi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147814"/>
            <a:ext cx="1531934" cy="1531934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204" y="1196768"/>
            <a:ext cx="2347350" cy="17367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Imagem 1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431838" cy="484816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214282" y="577298"/>
            <a:ext cx="41416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Conceitos e Definições</a:t>
            </a:r>
            <a:endParaRPr lang="pt-BR" sz="2200" b="1" dirty="0"/>
          </a:p>
        </p:txBody>
      </p:sp>
      <p:sp>
        <p:nvSpPr>
          <p:cNvPr id="16" name="Retângulo 15"/>
          <p:cNvSpPr/>
          <p:nvPr/>
        </p:nvSpPr>
        <p:spPr>
          <a:xfrm>
            <a:off x="357158" y="1282618"/>
            <a:ext cx="6286544" cy="15771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pt-BR" sz="2500" i="1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pt-BR" sz="2500" i="1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...</a:t>
            </a:r>
            <a:r>
              <a:rPr lang="pt-BR" sz="2500" b="1" i="1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sanções</a:t>
            </a:r>
            <a:r>
              <a:rPr lang="pt-BR" sz="2500" i="1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 (punições) previstas pelo CTB, aplicáveis aos condutores infratores.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357158" y="1282619"/>
            <a:ext cx="6286544" cy="556646"/>
          </a:xfrm>
          <a:prstGeom prst="rect">
            <a:avLst/>
          </a:prstGeom>
          <a:solidFill>
            <a:srgbClr val="2345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PENALIDADES</a:t>
            </a:r>
            <a:endParaRPr lang="pt-BR" sz="30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46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AI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00826" y="1357304"/>
            <a:ext cx="2428892" cy="24288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CaixaDeTexto 13"/>
          <p:cNvSpPr txBox="1"/>
          <p:nvPr/>
        </p:nvSpPr>
        <p:spPr>
          <a:xfrm>
            <a:off x="214282" y="2714626"/>
            <a:ext cx="8715436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pt-BR" sz="2000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►Tipificação da Infração cometida;</a:t>
            </a:r>
          </a:p>
          <a:p>
            <a:pPr>
              <a:lnSpc>
                <a:spcPts val="3000"/>
              </a:lnSpc>
            </a:pPr>
            <a:r>
              <a:rPr lang="pt-BR" sz="2000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►Local, data e hora do cometimento da infração;</a:t>
            </a:r>
          </a:p>
          <a:p>
            <a:pPr>
              <a:lnSpc>
                <a:spcPts val="3000"/>
              </a:lnSpc>
            </a:pPr>
            <a:r>
              <a:rPr lang="pt-BR" sz="2000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►Identificação do veículo (placa, marca, espécie...);</a:t>
            </a:r>
          </a:p>
          <a:p>
            <a:pPr>
              <a:lnSpc>
                <a:spcPts val="3000"/>
              </a:lnSpc>
            </a:pPr>
            <a:r>
              <a:rPr lang="pt-BR" sz="2000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►Identificação da Autoridade / Agente autuador ou Equipamento fiscalizador;</a:t>
            </a:r>
          </a:p>
          <a:p>
            <a:pPr>
              <a:lnSpc>
                <a:spcPts val="3000"/>
              </a:lnSpc>
            </a:pPr>
            <a:r>
              <a:rPr lang="pt-BR" sz="2000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►Prontuário e/ou Assinatura do Condutor, </a:t>
            </a:r>
            <a:r>
              <a:rPr lang="pt-BR" sz="2000" dirty="0" smtClean="0">
                <a:solidFill>
                  <a:srgbClr val="FF3300"/>
                </a:solidFill>
                <a:latin typeface="Calibri" pitchFamily="34" charset="0"/>
                <a:cs typeface="Calibri" pitchFamily="34" charset="0"/>
              </a:rPr>
              <a:t>se possível</a:t>
            </a:r>
            <a:r>
              <a:rPr lang="pt-BR" sz="2000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pt-BR" sz="2000" dirty="0">
              <a:solidFill>
                <a:srgbClr val="003399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431838" cy="48481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14282" y="577298"/>
            <a:ext cx="41416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Conceitos e Definições</a:t>
            </a:r>
            <a:endParaRPr lang="pt-BR" sz="2200" b="1" dirty="0"/>
          </a:p>
        </p:txBody>
      </p:sp>
      <p:sp>
        <p:nvSpPr>
          <p:cNvPr id="8" name="Retângulo 7"/>
          <p:cNvSpPr/>
          <p:nvPr/>
        </p:nvSpPr>
        <p:spPr>
          <a:xfrm>
            <a:off x="357158" y="1282618"/>
            <a:ext cx="5871026" cy="13611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0" rIns="180000" bIns="108000" rtlCol="0" anchor="b"/>
          <a:lstStyle/>
          <a:p>
            <a:pPr algn="just"/>
            <a:endParaRPr lang="pt-BR" i="1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pt-BR" sz="2000" i="1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... ocorrendo infração, prevista no CTB, será lavrado o Auto de Infração de Trânsito, </a:t>
            </a:r>
            <a:r>
              <a:rPr lang="pt-BR" sz="2000" b="1" i="1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no qual constará</a:t>
            </a:r>
            <a:r>
              <a:rPr lang="pt-BR" sz="2000" i="1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:</a:t>
            </a:r>
          </a:p>
        </p:txBody>
      </p:sp>
      <p:sp>
        <p:nvSpPr>
          <p:cNvPr id="9" name="Retângulo 8"/>
          <p:cNvSpPr/>
          <p:nvPr/>
        </p:nvSpPr>
        <p:spPr>
          <a:xfrm>
            <a:off x="357158" y="1282619"/>
            <a:ext cx="5871026" cy="47905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2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AIT – Auto de Infração de Trânsito</a:t>
            </a:r>
            <a:endParaRPr lang="pt-BR" sz="22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75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357158" y="1282619"/>
            <a:ext cx="6286544" cy="13573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80000" rIns="180000" bIns="108000" rtlCol="0" anchor="b"/>
          <a:lstStyle/>
          <a:p>
            <a:pPr algn="just"/>
            <a:endParaRPr lang="pt-BR" i="1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pt-BR" sz="2000" i="1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... </a:t>
            </a:r>
            <a:r>
              <a:rPr lang="pt-BR" sz="2000" b="1" i="1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dirigente máximo</a:t>
            </a:r>
            <a:r>
              <a:rPr lang="pt-BR" sz="2000" i="1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 de órgão ou entidade executivo de trânsito, componente do SNT.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357158" y="1282619"/>
            <a:ext cx="6286544" cy="47905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2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AUTORIDADE DE TRÂNSITO</a:t>
            </a:r>
            <a:endParaRPr lang="pt-BR" sz="22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0" name="Imagem 19" descr="Autoridade de Trânsit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72330" y="1214428"/>
            <a:ext cx="1500198" cy="1568389"/>
          </a:xfrm>
          <a:prstGeom prst="rect">
            <a:avLst/>
          </a:prstGeom>
        </p:spPr>
      </p:pic>
      <p:grpSp>
        <p:nvGrpSpPr>
          <p:cNvPr id="23" name="Grupo 22"/>
          <p:cNvGrpSpPr/>
          <p:nvPr/>
        </p:nvGrpSpPr>
        <p:grpSpPr>
          <a:xfrm>
            <a:off x="121578" y="3000378"/>
            <a:ext cx="1894623" cy="1838329"/>
            <a:chOff x="121578" y="3000378"/>
            <a:chExt cx="1894623" cy="1838329"/>
          </a:xfrm>
        </p:grpSpPr>
        <p:pic>
          <p:nvPicPr>
            <p:cNvPr id="22" name="Imagem 21" descr="guarda sinal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578" y="3000378"/>
              <a:ext cx="1123852" cy="1838329"/>
            </a:xfrm>
            <a:prstGeom prst="rect">
              <a:avLst/>
            </a:prstGeom>
          </p:spPr>
        </p:pic>
        <p:pic>
          <p:nvPicPr>
            <p:cNvPr id="21" name="Imagem 20" descr="PMMG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7407" y="3071816"/>
              <a:ext cx="798794" cy="1638290"/>
            </a:xfrm>
            <a:prstGeom prst="rect">
              <a:avLst/>
            </a:prstGeom>
          </p:spPr>
        </p:pic>
      </p:grpSp>
      <p:sp>
        <p:nvSpPr>
          <p:cNvPr id="18" name="Retângulo 17"/>
          <p:cNvSpPr/>
          <p:nvPr/>
        </p:nvSpPr>
        <p:spPr>
          <a:xfrm>
            <a:off x="2357422" y="3214692"/>
            <a:ext cx="6572296" cy="15001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08000" rIns="108000" bIns="108000" rtlCol="0" anchor="b"/>
          <a:lstStyle/>
          <a:p>
            <a:pPr algn="just"/>
            <a:endParaRPr lang="pt-BR" i="1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pt-BR" sz="2000" i="1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...pessoa, civil ou policial militar, credenciada pela autoridade de trânsito para o exercício das atividades de fiscalização, operação, policiamento ostensivo ou patrulhamento. 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2357422" y="3214692"/>
            <a:ext cx="6572296" cy="42862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2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AGENTE DA AUTORIDADE</a:t>
            </a:r>
            <a:endParaRPr lang="pt-BR" sz="22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431838" cy="484816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214282" y="577298"/>
            <a:ext cx="41416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Conceitos e Definições</a:t>
            </a:r>
            <a:endParaRPr lang="pt-BR" sz="2200" b="1" dirty="0"/>
          </a:p>
        </p:txBody>
      </p:sp>
    </p:spTree>
    <p:extLst>
      <p:ext uri="{BB962C8B-B14F-4D97-AF65-F5344CB8AC3E}">
        <p14:creationId xmlns:p14="http://schemas.microsoft.com/office/powerpoint/2010/main" val="41525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428596" y="1500180"/>
            <a:ext cx="4143404" cy="121444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pt-BR" i="1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pt-BR" sz="2000" i="1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... são competentes para lavrar um Auto de Infração de Trânsito</a:t>
            </a:r>
            <a:r>
              <a:rPr lang="pt-BR" sz="2000" dirty="0" smtClean="0">
                <a:solidFill>
                  <a:srgbClr val="003399"/>
                </a:solidFill>
                <a:latin typeface="Calibri" pitchFamily="34" charset="0"/>
                <a:cs typeface="Calibri" pitchFamily="34" charset="0"/>
              </a:rPr>
              <a:t>:</a:t>
            </a:r>
            <a:endParaRPr lang="pt-BR" sz="2000" i="1" dirty="0" smtClean="0">
              <a:solidFill>
                <a:srgbClr val="003399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428596" y="1500180"/>
            <a:ext cx="4143404" cy="42862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2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COMPETENTE PARA FISCALIZAR</a:t>
            </a:r>
            <a:endParaRPr lang="pt-BR" sz="22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0" name="Grupo 19"/>
          <p:cNvGrpSpPr/>
          <p:nvPr/>
        </p:nvGrpSpPr>
        <p:grpSpPr>
          <a:xfrm>
            <a:off x="4857752" y="1500180"/>
            <a:ext cx="3929090" cy="1357322"/>
            <a:chOff x="4643438" y="1500180"/>
            <a:chExt cx="3929090" cy="1357322"/>
          </a:xfrm>
        </p:grpSpPr>
        <p:pic>
          <p:nvPicPr>
            <p:cNvPr id="13" name="Imagem 12" descr="AGENTE CIVIL2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3438" y="1571618"/>
              <a:ext cx="1199150" cy="1214446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6" name="Retângulo de cantos arredondados 15"/>
            <p:cNvSpPr/>
            <p:nvPr/>
          </p:nvSpPr>
          <p:spPr>
            <a:xfrm>
              <a:off x="4643438" y="1500180"/>
              <a:ext cx="3929090" cy="1357322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8" name="CaixaDeTexto 17"/>
            <p:cNvSpPr txBox="1"/>
            <p:nvPr/>
          </p:nvSpPr>
          <p:spPr>
            <a:xfrm>
              <a:off x="5929322" y="1643056"/>
              <a:ext cx="2500330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600" b="1" i="1" dirty="0" smtClean="0">
                  <a:solidFill>
                    <a:srgbClr val="7030A0"/>
                  </a:solidFill>
                  <a:latin typeface="Calibri" pitchFamily="34" charset="0"/>
                  <a:cs typeface="Calibri" pitchFamily="34" charset="0"/>
                </a:rPr>
                <a:t>Servidor Civil</a:t>
              </a:r>
            </a:p>
            <a:p>
              <a:r>
                <a:rPr lang="pt-BR" sz="1500" i="1" dirty="0" smtClean="0">
                  <a:latin typeface="Calibri" pitchFamily="34" charset="0"/>
                  <a:cs typeface="Calibri" pitchFamily="34" charset="0"/>
                </a:rPr>
                <a:t>(Estatutário ou Celetista)</a:t>
              </a:r>
              <a:endParaRPr lang="pt-BR" sz="1500" i="1" dirty="0"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2500298" y="3143254"/>
            <a:ext cx="4357718" cy="1500198"/>
            <a:chOff x="2285984" y="3143254"/>
            <a:chExt cx="4357718" cy="1500198"/>
          </a:xfrm>
        </p:grpSpPr>
        <p:pic>
          <p:nvPicPr>
            <p:cNvPr id="14" name="Imagem 13" descr="PM MULTA2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57422" y="3214692"/>
              <a:ext cx="1285884" cy="1285884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7" name="Retângulo de cantos arredondados 16"/>
            <p:cNvSpPr/>
            <p:nvPr/>
          </p:nvSpPr>
          <p:spPr>
            <a:xfrm>
              <a:off x="2285984" y="3143254"/>
              <a:ext cx="4357718" cy="1500198"/>
            </a:xfrm>
            <a:prstGeom prst="round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CaixaDeTexto 18"/>
            <p:cNvSpPr txBox="1"/>
            <p:nvPr/>
          </p:nvSpPr>
          <p:spPr>
            <a:xfrm>
              <a:off x="3714744" y="3579505"/>
              <a:ext cx="2571768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600" b="1" i="1" dirty="0" smtClean="0">
                  <a:solidFill>
                    <a:srgbClr val="7030A0"/>
                  </a:solidFill>
                  <a:latin typeface="Calibri" pitchFamily="34" charset="0"/>
                  <a:cs typeface="Calibri" pitchFamily="34" charset="0"/>
                </a:rPr>
                <a:t>Policial Militar</a:t>
              </a:r>
              <a:endParaRPr lang="pt-BR" sz="2600" b="1" i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pic>
        <p:nvPicPr>
          <p:cNvPr id="15" name="Imagem 1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431838" cy="484816"/>
          </a:xfrm>
          <a:prstGeom prst="rect">
            <a:avLst/>
          </a:prstGeom>
        </p:spPr>
      </p:pic>
      <p:sp>
        <p:nvSpPr>
          <p:cNvPr id="22" name="CaixaDeTexto 21"/>
          <p:cNvSpPr txBox="1"/>
          <p:nvPr/>
        </p:nvSpPr>
        <p:spPr>
          <a:xfrm>
            <a:off x="214282" y="577298"/>
            <a:ext cx="41416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Conceitos e Definições</a:t>
            </a:r>
            <a:endParaRPr lang="pt-BR" sz="2200" b="1" dirty="0"/>
          </a:p>
        </p:txBody>
      </p:sp>
    </p:spTree>
    <p:extLst>
      <p:ext uri="{BB962C8B-B14F-4D97-AF65-F5344CB8AC3E}">
        <p14:creationId xmlns:p14="http://schemas.microsoft.com/office/powerpoint/2010/main" val="95207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arquivo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5720" y="1142990"/>
            <a:ext cx="2026678" cy="2286016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2714612" y="1428742"/>
            <a:ext cx="5929354" cy="121444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pt-BR" i="1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pt-BR" sz="2000" i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... um Auto de Infração de Trânsito poderá ser </a:t>
            </a:r>
            <a:r>
              <a:rPr lang="pt-BR" sz="2000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arquivado</a:t>
            </a:r>
            <a:r>
              <a:rPr lang="pt-BR" sz="2000" i="1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 e seu registro julgado insubsistente quando</a:t>
            </a:r>
            <a:r>
              <a:rPr lang="pt-BR" sz="2000" dirty="0" smtClean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:</a:t>
            </a:r>
            <a:endParaRPr lang="pt-BR" sz="2000" i="1" dirty="0" smtClean="0">
              <a:solidFill>
                <a:schemeClr val="accent1">
                  <a:lumMod val="7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2714612" y="1428742"/>
            <a:ext cx="5929354" cy="42862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2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ARQUIVAMENTO DO A I T – </a:t>
            </a:r>
            <a:r>
              <a:rPr lang="pt-BR" sz="15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CTB art. 281</a:t>
            </a:r>
            <a:endParaRPr lang="pt-BR" sz="15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4214810" y="3143254"/>
            <a:ext cx="4429156" cy="4286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Inconsistente ou Irregular</a:t>
            </a:r>
            <a:endParaRPr lang="pt-BR" b="1" i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2714612" y="3786196"/>
            <a:ext cx="5929354" cy="4286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Se a Notificação não for expedida em no máximo 30 dias</a:t>
            </a:r>
            <a:endParaRPr lang="pt-BR" b="1" i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Divisa 7"/>
          <p:cNvSpPr/>
          <p:nvPr/>
        </p:nvSpPr>
        <p:spPr>
          <a:xfrm>
            <a:off x="3786182" y="3183010"/>
            <a:ext cx="285752" cy="357190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Divisa 9"/>
          <p:cNvSpPr/>
          <p:nvPr/>
        </p:nvSpPr>
        <p:spPr>
          <a:xfrm>
            <a:off x="3500430" y="3194814"/>
            <a:ext cx="285752" cy="357190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Divisa 11"/>
          <p:cNvSpPr/>
          <p:nvPr/>
        </p:nvSpPr>
        <p:spPr>
          <a:xfrm>
            <a:off x="3214678" y="3192949"/>
            <a:ext cx="285752" cy="357190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Divisa 15"/>
          <p:cNvSpPr/>
          <p:nvPr/>
        </p:nvSpPr>
        <p:spPr>
          <a:xfrm>
            <a:off x="2285984" y="3845830"/>
            <a:ext cx="285752" cy="357190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Divisa 17"/>
          <p:cNvSpPr/>
          <p:nvPr/>
        </p:nvSpPr>
        <p:spPr>
          <a:xfrm>
            <a:off x="2000232" y="3857634"/>
            <a:ext cx="285752" cy="357190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Divisa 18"/>
          <p:cNvSpPr/>
          <p:nvPr/>
        </p:nvSpPr>
        <p:spPr>
          <a:xfrm>
            <a:off x="1714480" y="3855769"/>
            <a:ext cx="285752" cy="357190"/>
          </a:xfrm>
          <a:prstGeom prst="chevron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431838" cy="484816"/>
          </a:xfrm>
          <a:prstGeom prst="rect">
            <a:avLst/>
          </a:prstGeom>
        </p:spPr>
      </p:pic>
      <p:sp>
        <p:nvSpPr>
          <p:cNvPr id="21" name="CaixaDeTexto 20"/>
          <p:cNvSpPr txBox="1"/>
          <p:nvPr/>
        </p:nvSpPr>
        <p:spPr>
          <a:xfrm>
            <a:off x="214282" y="577298"/>
            <a:ext cx="41416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Conceitos e Definições</a:t>
            </a:r>
            <a:endParaRPr lang="pt-BR" sz="2200" b="1" dirty="0"/>
          </a:p>
        </p:txBody>
      </p:sp>
    </p:spTree>
    <p:extLst>
      <p:ext uri="{BB962C8B-B14F-4D97-AF65-F5344CB8AC3E}">
        <p14:creationId xmlns:p14="http://schemas.microsoft.com/office/powerpoint/2010/main" val="107598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8" grpId="0" animBg="1"/>
      <p:bldP spid="10" grpId="0" animBg="1"/>
      <p:bldP spid="12" grpId="0" animBg="1"/>
      <p:bldP spid="16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tângulo 52"/>
          <p:cNvSpPr/>
          <p:nvPr/>
        </p:nvSpPr>
        <p:spPr>
          <a:xfrm>
            <a:off x="416" y="1993789"/>
            <a:ext cx="9144000" cy="694085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0" y="1060110"/>
            <a:ext cx="9144000" cy="605445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8" name="Retângulo 57"/>
          <p:cNvSpPr/>
          <p:nvPr/>
        </p:nvSpPr>
        <p:spPr>
          <a:xfrm>
            <a:off x="4416" y="4085737"/>
            <a:ext cx="9135984" cy="7848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7" name="Retângulo 56"/>
          <p:cNvSpPr/>
          <p:nvPr/>
        </p:nvSpPr>
        <p:spPr>
          <a:xfrm>
            <a:off x="-3600" y="3021179"/>
            <a:ext cx="9144000" cy="684000"/>
          </a:xfrm>
          <a:prstGeom prst="rect">
            <a:avLst/>
          </a:prstGeom>
          <a:solidFill>
            <a:srgbClr val="7030A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357158" y="1111129"/>
            <a:ext cx="1440000" cy="50040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Infração</a:t>
            </a:r>
          </a:p>
        </p:txBody>
      </p:sp>
      <p:grpSp>
        <p:nvGrpSpPr>
          <p:cNvPr id="90" name="Grupo 89"/>
          <p:cNvGrpSpPr/>
          <p:nvPr/>
        </p:nvGrpSpPr>
        <p:grpSpPr>
          <a:xfrm>
            <a:off x="4154006" y="1111129"/>
            <a:ext cx="2358061" cy="500400"/>
            <a:chOff x="4011129" y="1504827"/>
            <a:chExt cx="2358061" cy="500400"/>
          </a:xfrm>
        </p:grpSpPr>
        <p:sp>
          <p:nvSpPr>
            <p:cNvPr id="13" name="Retângulo 12"/>
            <p:cNvSpPr/>
            <p:nvPr/>
          </p:nvSpPr>
          <p:spPr>
            <a:xfrm>
              <a:off x="4929190" y="1504827"/>
              <a:ext cx="1440000" cy="500400"/>
            </a:xfrm>
            <a:prstGeom prst="rect">
              <a:avLst/>
            </a:prstGeom>
            <a:solidFill>
              <a:srgbClr val="00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Análise de </a:t>
              </a:r>
            </a:p>
            <a:p>
              <a:pPr algn="ctr"/>
              <a:r>
                <a:rPr lang="pt-BR" sz="15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Consistência</a:t>
              </a:r>
            </a:p>
          </p:txBody>
        </p:sp>
        <p:cxnSp>
          <p:nvCxnSpPr>
            <p:cNvPr id="31" name="Conector de seta reta 30"/>
            <p:cNvCxnSpPr/>
            <p:nvPr/>
          </p:nvCxnSpPr>
          <p:spPr>
            <a:xfrm>
              <a:off x="4011129" y="1752445"/>
              <a:ext cx="91745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tângulo 20"/>
          <p:cNvSpPr/>
          <p:nvPr/>
        </p:nvSpPr>
        <p:spPr>
          <a:xfrm>
            <a:off x="7347449" y="1111129"/>
            <a:ext cx="1440000" cy="50040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Arquiva</a:t>
            </a:r>
          </a:p>
        </p:txBody>
      </p:sp>
      <p:cxnSp>
        <p:nvCxnSpPr>
          <p:cNvPr id="32" name="Conector de seta reta 31"/>
          <p:cNvCxnSpPr/>
          <p:nvPr/>
        </p:nvCxnSpPr>
        <p:spPr>
          <a:xfrm>
            <a:off x="6508816" y="1363328"/>
            <a:ext cx="828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upo 95"/>
          <p:cNvGrpSpPr/>
          <p:nvPr/>
        </p:nvGrpSpPr>
        <p:grpSpPr>
          <a:xfrm>
            <a:off x="3011604" y="3126005"/>
            <a:ext cx="2346214" cy="500400"/>
            <a:chOff x="2868728" y="3393780"/>
            <a:chExt cx="2346214" cy="500400"/>
          </a:xfrm>
        </p:grpSpPr>
        <p:sp>
          <p:nvSpPr>
            <p:cNvPr id="23" name="Retângulo 22"/>
            <p:cNvSpPr/>
            <p:nvPr/>
          </p:nvSpPr>
          <p:spPr>
            <a:xfrm>
              <a:off x="3774942" y="3393780"/>
              <a:ext cx="1440000" cy="5004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Recorrer à</a:t>
              </a:r>
            </a:p>
            <a:p>
              <a:pPr algn="ctr"/>
              <a:r>
                <a:rPr lang="pt-BR" sz="15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JARI</a:t>
              </a:r>
            </a:p>
          </p:txBody>
        </p:sp>
        <p:cxnSp>
          <p:nvCxnSpPr>
            <p:cNvPr id="37" name="Conector de seta reta 36"/>
            <p:cNvCxnSpPr/>
            <p:nvPr/>
          </p:nvCxnSpPr>
          <p:spPr>
            <a:xfrm>
              <a:off x="2868728" y="3649372"/>
              <a:ext cx="91745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upo 96"/>
          <p:cNvGrpSpPr/>
          <p:nvPr/>
        </p:nvGrpSpPr>
        <p:grpSpPr>
          <a:xfrm>
            <a:off x="5358426" y="3062207"/>
            <a:ext cx="2296649" cy="314926"/>
            <a:chOff x="5215549" y="3329982"/>
            <a:chExt cx="2296649" cy="314926"/>
          </a:xfrm>
        </p:grpSpPr>
        <p:sp>
          <p:nvSpPr>
            <p:cNvPr id="24" name="Retângulo 23"/>
            <p:cNvSpPr/>
            <p:nvPr/>
          </p:nvSpPr>
          <p:spPr>
            <a:xfrm>
              <a:off x="6072198" y="3329982"/>
              <a:ext cx="1440000" cy="24954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Arquiva</a:t>
              </a:r>
            </a:p>
          </p:txBody>
        </p:sp>
        <p:cxnSp>
          <p:nvCxnSpPr>
            <p:cNvPr id="59" name="Conector de seta reta 58"/>
            <p:cNvCxnSpPr/>
            <p:nvPr/>
          </p:nvCxnSpPr>
          <p:spPr>
            <a:xfrm>
              <a:off x="5215549" y="3643320"/>
              <a:ext cx="828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upo 99"/>
          <p:cNvGrpSpPr/>
          <p:nvPr/>
        </p:nvGrpSpPr>
        <p:grpSpPr>
          <a:xfrm>
            <a:off x="1560719" y="4243787"/>
            <a:ext cx="2356847" cy="500400"/>
            <a:chOff x="1428728" y="4236090"/>
            <a:chExt cx="2356847" cy="500400"/>
          </a:xfrm>
        </p:grpSpPr>
        <p:sp>
          <p:nvSpPr>
            <p:cNvPr id="26" name="Retângulo 25"/>
            <p:cNvSpPr/>
            <p:nvPr/>
          </p:nvSpPr>
          <p:spPr>
            <a:xfrm>
              <a:off x="1428728" y="4236090"/>
              <a:ext cx="1440000" cy="500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Aplicação das</a:t>
              </a:r>
            </a:p>
            <a:p>
              <a:pPr algn="ctr"/>
              <a:r>
                <a:rPr lang="pt-BR" sz="15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Penalidades</a:t>
              </a:r>
            </a:p>
          </p:txBody>
        </p:sp>
        <p:cxnSp>
          <p:nvCxnSpPr>
            <p:cNvPr id="39" name="Conector de seta reta 38"/>
            <p:cNvCxnSpPr/>
            <p:nvPr/>
          </p:nvCxnSpPr>
          <p:spPr>
            <a:xfrm rot="10800000">
              <a:off x="2868121" y="4493002"/>
              <a:ext cx="91745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upo 98"/>
          <p:cNvGrpSpPr/>
          <p:nvPr/>
        </p:nvGrpSpPr>
        <p:grpSpPr>
          <a:xfrm>
            <a:off x="5358426" y="4218359"/>
            <a:ext cx="2306675" cy="500400"/>
            <a:chOff x="5215549" y="4246723"/>
            <a:chExt cx="2306675" cy="500400"/>
          </a:xfrm>
        </p:grpSpPr>
        <p:sp>
          <p:nvSpPr>
            <p:cNvPr id="50" name="Retângulo 49"/>
            <p:cNvSpPr/>
            <p:nvPr/>
          </p:nvSpPr>
          <p:spPr>
            <a:xfrm>
              <a:off x="6082224" y="4246723"/>
              <a:ext cx="1440000" cy="500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Arquiva</a:t>
              </a:r>
            </a:p>
          </p:txBody>
        </p:sp>
        <p:cxnSp>
          <p:nvCxnSpPr>
            <p:cNvPr id="51" name="Conector de seta reta 50"/>
            <p:cNvCxnSpPr/>
            <p:nvPr/>
          </p:nvCxnSpPr>
          <p:spPr>
            <a:xfrm>
              <a:off x="5215549" y="4500576"/>
              <a:ext cx="84600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upo 88"/>
          <p:cNvGrpSpPr/>
          <p:nvPr/>
        </p:nvGrpSpPr>
        <p:grpSpPr>
          <a:xfrm>
            <a:off x="1785919" y="1111129"/>
            <a:ext cx="2368694" cy="500400"/>
            <a:chOff x="1643042" y="1504827"/>
            <a:chExt cx="2368694" cy="500400"/>
          </a:xfrm>
        </p:grpSpPr>
        <p:sp>
          <p:nvSpPr>
            <p:cNvPr id="11" name="Retângulo 10"/>
            <p:cNvSpPr/>
            <p:nvPr/>
          </p:nvSpPr>
          <p:spPr>
            <a:xfrm>
              <a:off x="2571736" y="1504827"/>
              <a:ext cx="1440000" cy="500400"/>
            </a:xfrm>
            <a:prstGeom prst="rect">
              <a:avLst/>
            </a:prstGeom>
            <a:solidFill>
              <a:srgbClr val="00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Autuação - A I T</a:t>
              </a:r>
            </a:p>
          </p:txBody>
        </p:sp>
        <p:cxnSp>
          <p:nvCxnSpPr>
            <p:cNvPr id="64" name="Conector de seta reta 63"/>
            <p:cNvCxnSpPr/>
            <p:nvPr/>
          </p:nvCxnSpPr>
          <p:spPr>
            <a:xfrm>
              <a:off x="1643042" y="1746393"/>
              <a:ext cx="917454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tângulo 64"/>
          <p:cNvSpPr/>
          <p:nvPr/>
        </p:nvSpPr>
        <p:spPr>
          <a:xfrm>
            <a:off x="3204168" y="2041142"/>
            <a:ext cx="2880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Apresentar Infrator</a:t>
            </a:r>
          </a:p>
        </p:txBody>
      </p:sp>
      <p:grpSp>
        <p:nvGrpSpPr>
          <p:cNvPr id="94" name="Grupo 93"/>
          <p:cNvGrpSpPr/>
          <p:nvPr/>
        </p:nvGrpSpPr>
        <p:grpSpPr>
          <a:xfrm>
            <a:off x="6500826" y="2041142"/>
            <a:ext cx="2297256" cy="291738"/>
            <a:chOff x="6357950" y="2380356"/>
            <a:chExt cx="2297256" cy="291738"/>
          </a:xfrm>
        </p:grpSpPr>
        <p:sp>
          <p:nvSpPr>
            <p:cNvPr id="22" name="Retângulo 21"/>
            <p:cNvSpPr/>
            <p:nvPr/>
          </p:nvSpPr>
          <p:spPr>
            <a:xfrm>
              <a:off x="7215206" y="2380356"/>
              <a:ext cx="1440000" cy="25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Arquiva</a:t>
              </a:r>
            </a:p>
          </p:txBody>
        </p:sp>
        <p:cxnSp>
          <p:nvCxnSpPr>
            <p:cNvPr id="67" name="Conector de seta reta 66"/>
            <p:cNvCxnSpPr/>
            <p:nvPr/>
          </p:nvCxnSpPr>
          <p:spPr>
            <a:xfrm>
              <a:off x="6357950" y="2670506"/>
              <a:ext cx="828000" cy="1588"/>
            </a:xfrm>
            <a:prstGeom prst="straightConnector1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66" name="Retângulo 65"/>
          <p:cNvSpPr/>
          <p:nvPr/>
        </p:nvSpPr>
        <p:spPr>
          <a:xfrm>
            <a:off x="3204168" y="2369141"/>
            <a:ext cx="2880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Defesa Prévia</a:t>
            </a:r>
          </a:p>
        </p:txBody>
      </p:sp>
      <p:grpSp>
        <p:nvGrpSpPr>
          <p:cNvPr id="91" name="Grupo 90"/>
          <p:cNvGrpSpPr/>
          <p:nvPr/>
        </p:nvGrpSpPr>
        <p:grpSpPr>
          <a:xfrm>
            <a:off x="357158" y="1614522"/>
            <a:ext cx="5434908" cy="978532"/>
            <a:chOff x="214282" y="1965688"/>
            <a:chExt cx="5434908" cy="978532"/>
          </a:xfrm>
        </p:grpSpPr>
        <p:sp>
          <p:nvSpPr>
            <p:cNvPr id="15" name="Retângulo 14"/>
            <p:cNvSpPr/>
            <p:nvPr/>
          </p:nvSpPr>
          <p:spPr>
            <a:xfrm>
              <a:off x="214282" y="2443820"/>
              <a:ext cx="1440000" cy="5004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Notificação </a:t>
              </a:r>
            </a:p>
            <a:p>
              <a:pPr algn="ctr"/>
              <a:r>
                <a:rPr lang="pt-BR" sz="15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A I T</a:t>
              </a:r>
            </a:p>
          </p:txBody>
        </p:sp>
        <p:cxnSp>
          <p:nvCxnSpPr>
            <p:cNvPr id="70" name="Forma 69"/>
            <p:cNvCxnSpPr/>
            <p:nvPr/>
          </p:nvCxnSpPr>
          <p:spPr>
            <a:xfrm rot="5400000">
              <a:off x="3057736" y="-157766"/>
              <a:ext cx="468000" cy="4714908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tângulo 19"/>
          <p:cNvSpPr/>
          <p:nvPr/>
        </p:nvSpPr>
        <p:spPr>
          <a:xfrm>
            <a:off x="1582844" y="3126005"/>
            <a:ext cx="1440000" cy="5004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Notificação </a:t>
            </a:r>
          </a:p>
          <a:p>
            <a:pPr algn="ctr"/>
            <a:r>
              <a:rPr lang="pt-BR" sz="15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PENALIDADE</a:t>
            </a:r>
          </a:p>
        </p:txBody>
      </p:sp>
      <p:cxnSp>
        <p:nvCxnSpPr>
          <p:cNvPr id="75" name="Forma 74"/>
          <p:cNvCxnSpPr>
            <a:stCxn id="80" idx="2"/>
            <a:endCxn id="20" idx="0"/>
          </p:cNvCxnSpPr>
          <p:nvPr/>
        </p:nvCxnSpPr>
        <p:spPr>
          <a:xfrm rot="5400000">
            <a:off x="4938175" y="-13903"/>
            <a:ext cx="504578" cy="577523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tângulo 79"/>
          <p:cNvSpPr/>
          <p:nvPr/>
        </p:nvSpPr>
        <p:spPr>
          <a:xfrm>
            <a:off x="7358082" y="2369426"/>
            <a:ext cx="1440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Indefere</a:t>
            </a:r>
          </a:p>
        </p:txBody>
      </p:sp>
      <p:sp>
        <p:nvSpPr>
          <p:cNvPr id="82" name="Retângulo 81"/>
          <p:cNvSpPr/>
          <p:nvPr/>
        </p:nvSpPr>
        <p:spPr>
          <a:xfrm>
            <a:off x="6215074" y="3411757"/>
            <a:ext cx="1440000" cy="2495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Indefere</a:t>
            </a:r>
          </a:p>
        </p:txBody>
      </p:sp>
      <p:sp>
        <p:nvSpPr>
          <p:cNvPr id="52" name="Retângulo 51"/>
          <p:cNvSpPr/>
          <p:nvPr/>
        </p:nvSpPr>
        <p:spPr>
          <a:xfrm>
            <a:off x="3779913" y="4111190"/>
            <a:ext cx="1656184" cy="7335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Recurso 2ª Inst.</a:t>
            </a:r>
          </a:p>
          <a:p>
            <a:pPr algn="ctr"/>
            <a:r>
              <a:rPr lang="pt-BR" sz="15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CONTRAN / J. Esp.</a:t>
            </a:r>
          </a:p>
          <a:p>
            <a:pPr algn="ctr"/>
            <a:r>
              <a:rPr lang="pt-BR" sz="15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CETRAN</a:t>
            </a:r>
          </a:p>
        </p:txBody>
      </p:sp>
      <p:cxnSp>
        <p:nvCxnSpPr>
          <p:cNvPr id="55" name="Conector de seta reta 54"/>
          <p:cNvCxnSpPr/>
          <p:nvPr/>
        </p:nvCxnSpPr>
        <p:spPr>
          <a:xfrm flipV="1">
            <a:off x="1785918" y="2342763"/>
            <a:ext cx="1418250" cy="374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/>
          <p:nvPr/>
        </p:nvCxnSpPr>
        <p:spPr>
          <a:xfrm flipV="1">
            <a:off x="6084168" y="2324031"/>
            <a:ext cx="1273914" cy="200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Forma 74"/>
          <p:cNvCxnSpPr/>
          <p:nvPr/>
        </p:nvCxnSpPr>
        <p:spPr>
          <a:xfrm rot="5400000">
            <a:off x="5597438" y="2710624"/>
            <a:ext cx="432000" cy="2340000"/>
          </a:xfrm>
          <a:prstGeom prst="bentConnector3">
            <a:avLst>
              <a:gd name="adj1" fmla="val 43678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rredondar Retângulo no Mesmo Canto Lateral 43"/>
          <p:cNvSpPr/>
          <p:nvPr/>
        </p:nvSpPr>
        <p:spPr>
          <a:xfrm rot="5400000">
            <a:off x="1780355" y="-1201501"/>
            <a:ext cx="405000" cy="3972911"/>
          </a:xfrm>
          <a:prstGeom prst="round2SameRect">
            <a:avLst>
              <a:gd name="adj1" fmla="val 37880"/>
              <a:gd name="adj2" fmla="val 0"/>
            </a:avLst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2250" b="1" dirty="0"/>
              <a:t>PROCESSO ADMINISTRATIVO</a:t>
            </a:r>
          </a:p>
        </p:txBody>
      </p:sp>
      <p:sp>
        <p:nvSpPr>
          <p:cNvPr id="45" name="Retângulo 44"/>
          <p:cNvSpPr/>
          <p:nvPr/>
        </p:nvSpPr>
        <p:spPr>
          <a:xfrm>
            <a:off x="6780229" y="4943193"/>
            <a:ext cx="2363771" cy="2003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50" dirty="0">
                <a:solidFill>
                  <a:srgbClr val="C00000"/>
                </a:solidFill>
              </a:rPr>
              <a:t>CONTRAN, Res. 619/16</a:t>
            </a:r>
          </a:p>
        </p:txBody>
      </p:sp>
      <p:pic>
        <p:nvPicPr>
          <p:cNvPr id="46" name="Imagem 4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431838" cy="484816"/>
          </a:xfrm>
          <a:prstGeom prst="rect">
            <a:avLst/>
          </a:prstGeom>
        </p:spPr>
      </p:pic>
      <p:sp>
        <p:nvSpPr>
          <p:cNvPr id="47" name="CaixaDeTexto 46"/>
          <p:cNvSpPr txBox="1"/>
          <p:nvPr/>
        </p:nvSpPr>
        <p:spPr>
          <a:xfrm>
            <a:off x="214282" y="577298"/>
            <a:ext cx="41416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Processo Administrativo</a:t>
            </a:r>
            <a:endParaRPr lang="pt-BR" sz="2200" b="1" dirty="0"/>
          </a:p>
        </p:txBody>
      </p:sp>
    </p:spTree>
    <p:extLst>
      <p:ext uri="{BB962C8B-B14F-4D97-AF65-F5344CB8AC3E}">
        <p14:creationId xmlns:p14="http://schemas.microsoft.com/office/powerpoint/2010/main" val="70838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17" grpId="0" animBg="1"/>
      <p:bldP spid="58" grpId="0" animBg="1"/>
      <p:bldP spid="57" grpId="0" animBg="1"/>
      <p:bldP spid="10" grpId="0" animBg="1"/>
      <p:bldP spid="21" grpId="0" animBg="1"/>
      <p:bldP spid="65" grpId="0" animBg="1"/>
      <p:bldP spid="66" grpId="0" animBg="1"/>
      <p:bldP spid="20" grpId="0" animBg="1"/>
      <p:bldP spid="80" grpId="0" animBg="1"/>
      <p:bldP spid="82" grpId="0" animBg="1"/>
      <p:bldP spid="5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214282" y="1551200"/>
            <a:ext cx="4140000" cy="217496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</a:pPr>
            <a:r>
              <a:rPr lang="pt-BR" b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►Advertência por Escrito</a:t>
            </a:r>
          </a:p>
          <a:p>
            <a:pPr>
              <a:spcBef>
                <a:spcPts val="600"/>
              </a:spcBef>
            </a:pPr>
            <a:r>
              <a:rPr lang="pt-BR" b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►Multa</a:t>
            </a:r>
          </a:p>
          <a:p>
            <a:pPr>
              <a:spcBef>
                <a:spcPts val="600"/>
              </a:spcBef>
            </a:pPr>
            <a:r>
              <a:rPr lang="pt-BR" b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►Suspensão do Direito de Dirigir</a:t>
            </a:r>
          </a:p>
          <a:p>
            <a:pPr>
              <a:spcBef>
                <a:spcPts val="600"/>
              </a:spcBef>
            </a:pPr>
            <a:r>
              <a:rPr lang="pt-BR" b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►Cassação da PPD</a:t>
            </a:r>
          </a:p>
          <a:p>
            <a:pPr>
              <a:spcBef>
                <a:spcPts val="600"/>
              </a:spcBef>
            </a:pPr>
            <a:r>
              <a:rPr lang="pt-BR" b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►Cassação da CNH</a:t>
            </a:r>
          </a:p>
          <a:p>
            <a:pPr>
              <a:spcBef>
                <a:spcPts val="600"/>
              </a:spcBef>
            </a:pPr>
            <a:r>
              <a:rPr lang="pt-BR" b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►Frequência em Curso de Reciclagem</a:t>
            </a:r>
            <a:endParaRPr lang="pt-BR" b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4789718" y="1549860"/>
            <a:ext cx="4140000" cy="253215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spcBef>
                <a:spcPts val="600"/>
              </a:spcBef>
            </a:pPr>
            <a:r>
              <a:rPr lang="pt-BR" b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►Retenção do Veículo</a:t>
            </a:r>
          </a:p>
          <a:p>
            <a:pPr>
              <a:spcBef>
                <a:spcPts val="600"/>
              </a:spcBef>
            </a:pPr>
            <a:r>
              <a:rPr lang="pt-BR" b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►Remoção do Veículo</a:t>
            </a:r>
          </a:p>
          <a:p>
            <a:pPr>
              <a:spcBef>
                <a:spcPts val="600"/>
              </a:spcBef>
            </a:pPr>
            <a:r>
              <a:rPr lang="pt-BR" b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►Recolhimento da Habilitação</a:t>
            </a:r>
          </a:p>
          <a:p>
            <a:pPr>
              <a:spcBef>
                <a:spcPts val="600"/>
              </a:spcBef>
            </a:pPr>
            <a:r>
              <a:rPr lang="pt-BR" b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►Recolhimento da Docum. do Veículo</a:t>
            </a:r>
          </a:p>
          <a:p>
            <a:pPr>
              <a:spcBef>
                <a:spcPts val="600"/>
              </a:spcBef>
            </a:pPr>
            <a:r>
              <a:rPr lang="pt-BR" b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►Recolhimento de Animais</a:t>
            </a:r>
          </a:p>
          <a:p>
            <a:pPr>
              <a:spcBef>
                <a:spcPts val="600"/>
              </a:spcBef>
            </a:pPr>
            <a:r>
              <a:rPr lang="pt-BR" b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►Transbordo do Excesso de Carga</a:t>
            </a:r>
          </a:p>
          <a:p>
            <a:pPr>
              <a:spcBef>
                <a:spcPts val="600"/>
              </a:spcBef>
            </a:pPr>
            <a:r>
              <a:rPr lang="pt-BR" b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►Realização de teste de Alcoolemia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214282" y="1142990"/>
            <a:ext cx="4140000" cy="3571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PENALIDADES </a:t>
            </a:r>
            <a:r>
              <a:rPr lang="pt-BR" sz="10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(CTB art. 256)</a:t>
            </a:r>
            <a:endParaRPr lang="pt-BR" sz="10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4789718" y="1142990"/>
            <a:ext cx="4140000" cy="35719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MEDIDAS ADMINISTRATIVAS </a:t>
            </a:r>
            <a:r>
              <a:rPr lang="pt-BR" sz="10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(CTB art. 269)</a:t>
            </a:r>
            <a:endParaRPr lang="pt-BR" sz="10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Retângulo de cantos arredondados 15"/>
          <p:cNvSpPr/>
          <p:nvPr/>
        </p:nvSpPr>
        <p:spPr>
          <a:xfrm>
            <a:off x="2214546" y="4429138"/>
            <a:ext cx="6715172" cy="322076"/>
          </a:xfrm>
          <a:prstGeom prst="roundRect">
            <a:avLst>
              <a:gd name="adj" fmla="val 0"/>
            </a:avLst>
          </a:prstGeom>
          <a:solidFill>
            <a:srgbClr val="FFFF00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Tudo que começar com as letras </a:t>
            </a: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</a:t>
            </a:r>
            <a:r>
              <a:rPr lang="pt-BR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ou </a:t>
            </a: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</a:t>
            </a:r>
            <a:r>
              <a:rPr lang="pt-BR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é Medida Administrativa</a:t>
            </a:r>
            <a:endParaRPr lang="pt-BR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5" name="Imagem 14" descr="DICA 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7158" y="3784561"/>
            <a:ext cx="1143008" cy="1151734"/>
          </a:xfrm>
          <a:prstGeom prst="rect">
            <a:avLst/>
          </a:prstGeom>
        </p:spPr>
      </p:pic>
      <p:sp>
        <p:nvSpPr>
          <p:cNvPr id="17" name="Divisa 16"/>
          <p:cNvSpPr/>
          <p:nvPr/>
        </p:nvSpPr>
        <p:spPr>
          <a:xfrm>
            <a:off x="1926929" y="4458955"/>
            <a:ext cx="214314" cy="285752"/>
          </a:xfrm>
          <a:prstGeom prst="chevron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Divisa 17"/>
          <p:cNvSpPr/>
          <p:nvPr/>
        </p:nvSpPr>
        <p:spPr>
          <a:xfrm>
            <a:off x="1714480" y="4468894"/>
            <a:ext cx="214314" cy="285752"/>
          </a:xfrm>
          <a:prstGeom prst="chevron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Divisa 18"/>
          <p:cNvSpPr/>
          <p:nvPr/>
        </p:nvSpPr>
        <p:spPr>
          <a:xfrm>
            <a:off x="1500166" y="4478833"/>
            <a:ext cx="214314" cy="285752"/>
          </a:xfrm>
          <a:prstGeom prst="chevron">
            <a:avLst/>
          </a:prstGeom>
          <a:solidFill>
            <a:srgbClr val="FFFF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647862" cy="484816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214282" y="577298"/>
            <a:ext cx="45017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Penalidades / Med. Administrativas</a:t>
            </a:r>
            <a:endParaRPr lang="pt-BR" sz="2200" b="1" dirty="0"/>
          </a:p>
        </p:txBody>
      </p:sp>
    </p:spTree>
    <p:extLst>
      <p:ext uri="{BB962C8B-B14F-4D97-AF65-F5344CB8AC3E}">
        <p14:creationId xmlns:p14="http://schemas.microsoft.com/office/powerpoint/2010/main" val="274887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395536" y="2643188"/>
            <a:ext cx="84969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►A infração cometida for </a:t>
            </a:r>
            <a:r>
              <a:rPr lang="pt-BR" sz="22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Leve</a:t>
            </a:r>
            <a:r>
              <a:rPr lang="pt-BR" sz="22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ou </a:t>
            </a:r>
            <a:r>
              <a:rPr lang="pt-BR" sz="22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Média</a:t>
            </a:r>
          </a:p>
          <a:p>
            <a:pPr>
              <a:lnSpc>
                <a:spcPct val="150000"/>
              </a:lnSpc>
            </a:pPr>
            <a:r>
              <a:rPr lang="pt-BR" sz="22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►O infrator </a:t>
            </a:r>
            <a:r>
              <a:rPr lang="pt-BR" sz="22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não for Reincidente </a:t>
            </a:r>
            <a:r>
              <a:rPr lang="pt-BR" sz="22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nos últimos 12 meses - mesma infração</a:t>
            </a:r>
            <a:endParaRPr lang="pt-BR" sz="2200" i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1785918" y="3929072"/>
            <a:ext cx="6643734" cy="730910"/>
          </a:xfrm>
          <a:prstGeom prst="rect">
            <a:avLst/>
          </a:prstGeom>
          <a:solidFill>
            <a:srgbClr val="FFFF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700" b="1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Caso a autoridade de trânsito NÃO entenda como medida mais educativa a aplicação da Advertência por Escrito, aplicará a Multa.</a:t>
            </a:r>
            <a:endParaRPr lang="pt-BR" sz="1700" b="1" i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395536" y="2089957"/>
            <a:ext cx="8352928" cy="500066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CTB art. 267 -</a:t>
            </a: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Poderá ser imposta a penalidade </a:t>
            </a:r>
            <a:r>
              <a:rPr lang="pt-BR" sz="20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ADVERTÊNCIA POR ESCRITO</a:t>
            </a: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se: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395536" y="2089957"/>
            <a:ext cx="8352928" cy="164307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Arredondar Retângulo no Mesmo Canto Lateral 7"/>
          <p:cNvSpPr/>
          <p:nvPr/>
        </p:nvSpPr>
        <p:spPr>
          <a:xfrm rot="5400000">
            <a:off x="1708573" y="-412707"/>
            <a:ext cx="360000" cy="3782681"/>
          </a:xfrm>
          <a:prstGeom prst="round2SameRect">
            <a:avLst>
              <a:gd name="adj1" fmla="val 31097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Punição com efeito EDUCATIVO</a:t>
            </a:r>
          </a:p>
        </p:txBody>
      </p:sp>
      <p:sp>
        <p:nvSpPr>
          <p:cNvPr id="10" name="Divisa 9"/>
          <p:cNvSpPr/>
          <p:nvPr/>
        </p:nvSpPr>
        <p:spPr>
          <a:xfrm>
            <a:off x="1142976" y="4000510"/>
            <a:ext cx="500066" cy="642942"/>
          </a:xfrm>
          <a:prstGeom prst="chevr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Divisa 11"/>
          <p:cNvSpPr/>
          <p:nvPr/>
        </p:nvSpPr>
        <p:spPr>
          <a:xfrm>
            <a:off x="785786" y="4000510"/>
            <a:ext cx="500066" cy="642942"/>
          </a:xfrm>
          <a:prstGeom prst="chevr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Divisa 15"/>
          <p:cNvSpPr/>
          <p:nvPr/>
        </p:nvSpPr>
        <p:spPr>
          <a:xfrm>
            <a:off x="428596" y="4000510"/>
            <a:ext cx="500066" cy="642942"/>
          </a:xfrm>
          <a:prstGeom prst="chevr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Penalidades - Advertência por escrito</a:t>
            </a:r>
            <a:endParaRPr lang="pt-BR" sz="2200" b="1" dirty="0"/>
          </a:p>
        </p:txBody>
      </p:sp>
    </p:spTree>
    <p:extLst>
      <p:ext uri="{BB962C8B-B14F-4D97-AF65-F5344CB8AC3E}">
        <p14:creationId xmlns:p14="http://schemas.microsoft.com/office/powerpoint/2010/main" val="272928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0" grpId="0" animBg="1"/>
      <p:bldP spid="12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3277965" y="1131590"/>
            <a:ext cx="1667418" cy="25978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NATUREZA</a:t>
            </a:r>
          </a:p>
        </p:txBody>
      </p:sp>
      <p:sp>
        <p:nvSpPr>
          <p:cNvPr id="10" name="Retângulo 9"/>
          <p:cNvSpPr/>
          <p:nvPr/>
        </p:nvSpPr>
        <p:spPr>
          <a:xfrm>
            <a:off x="5205421" y="1131590"/>
            <a:ext cx="1667418" cy="25978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PONTUAÇÃO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7096079" y="1131590"/>
            <a:ext cx="1667418" cy="25978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VALOR </a:t>
            </a:r>
            <a:r>
              <a:rPr lang="pt-BR" sz="14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ATUALIZADO</a:t>
            </a:r>
            <a:endParaRPr lang="pt-BR" sz="14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3277965" y="1492321"/>
            <a:ext cx="1667418" cy="259784"/>
          </a:xfrm>
          <a:prstGeom prst="rect">
            <a:avLst/>
          </a:prstGeom>
          <a:solidFill>
            <a:srgbClr val="00009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LEVE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5205421" y="1492321"/>
            <a:ext cx="1667418" cy="259784"/>
          </a:xfrm>
          <a:prstGeom prst="rect">
            <a:avLst/>
          </a:prstGeom>
          <a:solidFill>
            <a:srgbClr val="00009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3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7096079" y="1492321"/>
            <a:ext cx="1667418" cy="259784"/>
          </a:xfrm>
          <a:prstGeom prst="rect">
            <a:avLst/>
          </a:prstGeom>
          <a:solidFill>
            <a:schemeClr val="accent6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R$ 88,38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281382" y="1853051"/>
            <a:ext cx="1667418" cy="259784"/>
          </a:xfrm>
          <a:prstGeom prst="rect">
            <a:avLst/>
          </a:prstGeom>
          <a:solidFill>
            <a:srgbClr val="00009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MÉDIA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5208838" y="1853051"/>
            <a:ext cx="1667418" cy="259784"/>
          </a:xfrm>
          <a:prstGeom prst="rect">
            <a:avLst/>
          </a:prstGeom>
          <a:solidFill>
            <a:srgbClr val="00009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4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7099496" y="1853051"/>
            <a:ext cx="1667418" cy="259784"/>
          </a:xfrm>
          <a:prstGeom prst="rect">
            <a:avLst/>
          </a:prstGeom>
          <a:solidFill>
            <a:schemeClr val="accent6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R$ 130,16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281382" y="2210971"/>
            <a:ext cx="1667418" cy="259784"/>
          </a:xfrm>
          <a:prstGeom prst="rect">
            <a:avLst/>
          </a:prstGeom>
          <a:solidFill>
            <a:srgbClr val="00009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GRAVE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5208838" y="2210971"/>
            <a:ext cx="1667418" cy="259784"/>
          </a:xfrm>
          <a:prstGeom prst="rect">
            <a:avLst/>
          </a:prstGeom>
          <a:solidFill>
            <a:srgbClr val="00009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5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7099496" y="2210971"/>
            <a:ext cx="1667418" cy="259784"/>
          </a:xfrm>
          <a:prstGeom prst="rect">
            <a:avLst/>
          </a:prstGeom>
          <a:solidFill>
            <a:schemeClr val="accent6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R$ 195,23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3274165" y="2571702"/>
            <a:ext cx="1667418" cy="259784"/>
          </a:xfrm>
          <a:prstGeom prst="rect">
            <a:avLst/>
          </a:prstGeom>
          <a:solidFill>
            <a:srgbClr val="00009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GRAVÍSSIMA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5201622" y="2571702"/>
            <a:ext cx="1667418" cy="259784"/>
          </a:xfrm>
          <a:prstGeom prst="rect">
            <a:avLst/>
          </a:prstGeom>
          <a:solidFill>
            <a:srgbClr val="00009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7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7092280" y="2571702"/>
            <a:ext cx="1667418" cy="259784"/>
          </a:xfrm>
          <a:prstGeom prst="rect">
            <a:avLst/>
          </a:prstGeom>
          <a:solidFill>
            <a:schemeClr val="accent6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R$ 293,47</a:t>
            </a:r>
          </a:p>
        </p:txBody>
      </p:sp>
      <p:pic>
        <p:nvPicPr>
          <p:cNvPr id="26" name="Imagem 25" descr="MULTA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1079875"/>
            <a:ext cx="2188626" cy="1851915"/>
          </a:xfrm>
          <a:prstGeom prst="rect">
            <a:avLst/>
          </a:prstGeom>
        </p:spPr>
      </p:pic>
      <p:sp>
        <p:nvSpPr>
          <p:cNvPr id="27" name="Retângulo de cantos arredondados 26"/>
          <p:cNvSpPr/>
          <p:nvPr/>
        </p:nvSpPr>
        <p:spPr>
          <a:xfrm>
            <a:off x="203703" y="4568768"/>
            <a:ext cx="8583139" cy="249041"/>
          </a:xfrm>
          <a:prstGeom prst="roundRect">
            <a:avLst/>
          </a:prstGeom>
          <a:solidFill>
            <a:schemeClr val="tx2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pt-BR" sz="1500" b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FATOR AGRAVANTE – </a:t>
            </a:r>
            <a:r>
              <a:rPr lang="pt-BR" sz="15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Multiplica o valor das multas gravíssimas por 2x, 3x, </a:t>
            </a:r>
            <a:r>
              <a:rPr lang="pt-BR" sz="15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5x</a:t>
            </a:r>
            <a:r>
              <a:rPr lang="pt-BR" sz="15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, 10x, 20x, 60x</a:t>
            </a:r>
          </a:p>
        </p:txBody>
      </p:sp>
      <p:sp>
        <p:nvSpPr>
          <p:cNvPr id="28" name="Retângulo de cantos arredondados 27"/>
          <p:cNvSpPr/>
          <p:nvPr/>
        </p:nvSpPr>
        <p:spPr>
          <a:xfrm>
            <a:off x="203703" y="3619022"/>
            <a:ext cx="8583139" cy="249041"/>
          </a:xfrm>
          <a:prstGeom prst="roundRect">
            <a:avLst/>
          </a:prstGeom>
          <a:solidFill>
            <a:srgbClr val="0066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pt-BR" sz="1500" b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PAGAR 80% DO VALOR – </a:t>
            </a:r>
            <a:r>
              <a:rPr lang="pt-BR" sz="1500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Para multas quitadas até o vencimento </a:t>
            </a:r>
            <a:r>
              <a:rPr lang="pt-BR" sz="975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(CTB art. 284)</a:t>
            </a:r>
          </a:p>
        </p:txBody>
      </p:sp>
      <p:sp>
        <p:nvSpPr>
          <p:cNvPr id="29" name="Retângulo de cantos arredondados 28"/>
          <p:cNvSpPr/>
          <p:nvPr/>
        </p:nvSpPr>
        <p:spPr>
          <a:xfrm>
            <a:off x="203703" y="4252801"/>
            <a:ext cx="8583139" cy="249041"/>
          </a:xfrm>
          <a:prstGeom prst="roundRect">
            <a:avLst/>
          </a:prstGeom>
          <a:solidFill>
            <a:srgbClr val="0066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pt-BR" sz="1500" b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FUNSET – </a:t>
            </a:r>
            <a:r>
              <a:rPr lang="pt-BR" sz="1500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5% é repassado ao Fundo Nacional de Segurança e </a:t>
            </a:r>
            <a:r>
              <a:rPr lang="pt-BR" sz="150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Educação </a:t>
            </a:r>
            <a:r>
              <a:rPr lang="pt-BR" sz="980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(CTB art. 320 § 1º)</a:t>
            </a:r>
            <a:endParaRPr lang="pt-BR" sz="980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5" name="Retângulo de cantos arredondados 34"/>
          <p:cNvSpPr/>
          <p:nvPr/>
        </p:nvSpPr>
        <p:spPr>
          <a:xfrm>
            <a:off x="203703" y="3939547"/>
            <a:ext cx="8583139" cy="249041"/>
          </a:xfrm>
          <a:prstGeom prst="roundRect">
            <a:avLst/>
          </a:prstGeom>
          <a:solidFill>
            <a:schemeClr val="tx2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pt-BR" sz="1500" b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PAGAR 60% DO VALOR – </a:t>
            </a:r>
            <a:r>
              <a:rPr lang="pt-BR" sz="15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Se </a:t>
            </a:r>
            <a:r>
              <a:rPr lang="pt-BR" sz="15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Notificado Eletronicamente </a:t>
            </a:r>
            <a:r>
              <a:rPr lang="pt-BR" sz="15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e </a:t>
            </a:r>
            <a:r>
              <a:rPr lang="pt-BR" sz="15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Desistir </a:t>
            </a:r>
            <a:r>
              <a:rPr lang="pt-BR" sz="15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de </a:t>
            </a:r>
            <a:r>
              <a:rPr lang="pt-BR" sz="15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Recurso </a:t>
            </a:r>
            <a:r>
              <a:rPr lang="pt-BR" sz="975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(CTB art. 284 § 1º)</a:t>
            </a:r>
          </a:p>
        </p:txBody>
      </p:sp>
      <p:sp>
        <p:nvSpPr>
          <p:cNvPr id="34" name="Retângulo de cantos arredondados 33"/>
          <p:cNvSpPr/>
          <p:nvPr/>
        </p:nvSpPr>
        <p:spPr>
          <a:xfrm>
            <a:off x="203703" y="2977973"/>
            <a:ext cx="8583139" cy="249041"/>
          </a:xfrm>
          <a:prstGeom prst="roundRect">
            <a:avLst/>
          </a:prstGeom>
          <a:solidFill>
            <a:srgbClr val="0066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pt-BR" sz="1500" b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REAJUSTES </a:t>
            </a:r>
            <a:r>
              <a:rPr lang="pt-BR" sz="1500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– </a:t>
            </a:r>
            <a:r>
              <a:rPr lang="pt-BR" sz="1500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Os valores poderão ser corrigidos anualmente conforme IPCA do ano anterior </a:t>
            </a:r>
            <a:r>
              <a:rPr lang="pt-BR" sz="975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(CTB art</a:t>
            </a:r>
            <a:r>
              <a:rPr lang="pt-BR" sz="975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. 319A)</a:t>
            </a:r>
            <a:endParaRPr lang="pt-BR" sz="975" b="1" i="1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Retângulo de cantos arredondados 35"/>
          <p:cNvSpPr/>
          <p:nvPr/>
        </p:nvSpPr>
        <p:spPr>
          <a:xfrm>
            <a:off x="203703" y="3297965"/>
            <a:ext cx="8583139" cy="249041"/>
          </a:xfrm>
          <a:prstGeom prst="roundRect">
            <a:avLst/>
          </a:prstGeom>
          <a:solidFill>
            <a:schemeClr val="tx2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pt-BR" sz="1500" b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JUROS </a:t>
            </a:r>
            <a:r>
              <a:rPr lang="pt-BR" sz="15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– </a:t>
            </a:r>
            <a:r>
              <a:rPr lang="pt-BR" sz="1500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 multa não paga até o vencimento terá acréscimo conforme taxa SELIC + 1% </a:t>
            </a:r>
            <a:r>
              <a:rPr lang="pt-BR" sz="975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(CTB art</a:t>
            </a:r>
            <a:r>
              <a:rPr lang="pt-BR" sz="975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. 284 § 4º)</a:t>
            </a:r>
          </a:p>
        </p:txBody>
      </p:sp>
      <p:pic>
        <p:nvPicPr>
          <p:cNvPr id="32" name="Imagem 3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33" name="CaixaDeTexto 32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Penalidades – Multa </a:t>
            </a:r>
            <a:r>
              <a:rPr lang="pt-BR" sz="1000" b="1" dirty="0" smtClean="0"/>
              <a:t>(CTB art. 258 e 259)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35360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5" grpId="0" animBg="1"/>
      <p:bldP spid="34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69430" y="1995686"/>
            <a:ext cx="9001156" cy="1287737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just">
              <a:lnSpc>
                <a:spcPts val="2300"/>
              </a:lnSpc>
            </a:pPr>
            <a:r>
              <a:rPr lang="pt-BR" sz="1000" b="1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Art</a:t>
            </a: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162 I) </a:t>
            </a:r>
            <a:r>
              <a:rPr lang="pt-BR" sz="15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Dirigir veículo </a:t>
            </a:r>
            <a:r>
              <a:rPr lang="pt-BR" sz="1500" b="1" i="1" u="sng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sem possuir Habilitação</a:t>
            </a:r>
            <a:r>
              <a:rPr lang="pt-BR" sz="15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(CNH, PPD ou ACC)</a:t>
            </a:r>
          </a:p>
          <a:p>
            <a:pPr algn="just">
              <a:lnSpc>
                <a:spcPts val="2300"/>
              </a:lnSpc>
            </a:pP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pt-BR" sz="1000" b="1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CTB Art</a:t>
            </a: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162 II) </a:t>
            </a:r>
            <a:r>
              <a:rPr lang="pt-BR" sz="15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Dirigir com Habilitação (CNH, PPD ou ACC) </a:t>
            </a:r>
            <a:r>
              <a:rPr lang="pt-BR" sz="1500" b="1" i="1" u="sng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Cassada ou Suspensa</a:t>
            </a:r>
          </a:p>
          <a:p>
            <a:pPr algn="just">
              <a:lnSpc>
                <a:spcPts val="2300"/>
              </a:lnSpc>
            </a:pP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</a:t>
            </a:r>
            <a:r>
              <a:rPr lang="pt-BR" sz="1000" b="1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Art</a:t>
            </a: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193) </a:t>
            </a:r>
            <a:r>
              <a:rPr lang="pt-BR" sz="15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Transitar com o veículo sobre calçada, passarela, ciclovia, canteiro central, acostamento ... </a:t>
            </a:r>
          </a:p>
          <a:p>
            <a:pPr algn="just">
              <a:lnSpc>
                <a:spcPts val="2300"/>
              </a:lnSpc>
            </a:pP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pt-BR" sz="1000" b="1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CTB Art</a:t>
            </a: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218 III) </a:t>
            </a:r>
            <a:r>
              <a:rPr lang="pt-BR" sz="15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Transitar em velocidade superior à máxima em + de 50%.</a:t>
            </a:r>
            <a:endParaRPr lang="pt-BR" sz="1500" b="1" i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7164288" y="1995686"/>
            <a:ext cx="1906298" cy="2160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pt-BR" sz="1200" b="1" dirty="0" smtClean="0">
                <a:latin typeface="Calibri" pitchFamily="34" charset="0"/>
                <a:cs typeface="Calibri" pitchFamily="34" charset="0"/>
              </a:rPr>
              <a:t>FATOR AGRAVANTE   x3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69430" y="3435846"/>
            <a:ext cx="9001156" cy="1296144"/>
          </a:xfrm>
          <a:prstGeom prst="rect">
            <a:avLst/>
          </a:prstGeom>
          <a:solidFill>
            <a:srgbClr val="006600">
              <a:alpha val="10000"/>
            </a:srgbClr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2300"/>
              </a:lnSpc>
            </a:pP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</a:t>
            </a:r>
            <a:r>
              <a:rPr lang="pt-BR" sz="1000" b="1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Art</a:t>
            </a: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176 I a V) </a:t>
            </a:r>
            <a:r>
              <a:rPr lang="pt-BR" sz="15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Deixar, o condutor envolvido em acidentes com vítima:</a:t>
            </a:r>
          </a:p>
          <a:p>
            <a:pPr algn="just">
              <a:lnSpc>
                <a:spcPts val="2300"/>
              </a:lnSpc>
            </a:pP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pt-BR" sz="1000" b="1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CTB Art</a:t>
            </a: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202) </a:t>
            </a:r>
            <a:r>
              <a:rPr lang="pt-BR" sz="15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Ultrapassar pelo acostamento, em interseções ou passagens de nível</a:t>
            </a:r>
          </a:p>
          <a:p>
            <a:pPr algn="just">
              <a:lnSpc>
                <a:spcPts val="2300"/>
              </a:lnSpc>
            </a:pP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</a:t>
            </a:r>
            <a:r>
              <a:rPr lang="pt-BR" sz="1000" b="1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Art</a:t>
            </a: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203) </a:t>
            </a:r>
            <a:r>
              <a:rPr lang="pt-BR" sz="15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Ultrapassar - curvas, aclives/declives, faixa de pedestre, pontes/viaduto/túneis, proibida sinalização...</a:t>
            </a:r>
          </a:p>
          <a:p>
            <a:pPr algn="just">
              <a:lnSpc>
                <a:spcPts val="2300"/>
              </a:lnSpc>
            </a:pP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pt-BR" sz="1000" b="1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CTB Art</a:t>
            </a: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246)</a:t>
            </a:r>
            <a:r>
              <a:rPr lang="pt-BR" sz="10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5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Deixar de sinalizar obstáculo à livre circulação e segurança de veículos e pedestres ...</a:t>
            </a:r>
            <a:endParaRPr lang="pt-BR" sz="1500" b="1" i="1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7164287" y="3442325"/>
            <a:ext cx="1903171" cy="209545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latin typeface="Calibri" pitchFamily="34" charset="0"/>
                <a:cs typeface="Calibri" pitchFamily="34" charset="0"/>
              </a:rPr>
              <a:t>FATOR AGRAVANTE   x5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67690" y="1203598"/>
            <a:ext cx="9001727" cy="664112"/>
          </a:xfrm>
          <a:prstGeom prst="rect">
            <a:avLst/>
          </a:prstGeom>
          <a:solidFill>
            <a:schemeClr val="accent6">
              <a:lumMod val="40000"/>
              <a:lumOff val="60000"/>
              <a:alpha val="1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just">
              <a:lnSpc>
                <a:spcPct val="150000"/>
              </a:lnSpc>
            </a:pPr>
            <a:r>
              <a:rPr lang="pt-BR" sz="1000" b="1" i="1" dirty="0" smtClean="0">
                <a:solidFill>
                  <a:schemeClr val="tx1"/>
                </a:solidFill>
                <a:latin typeface="+mj-lt"/>
              </a:rPr>
              <a:t>(CTB Art. 162 III) </a:t>
            </a:r>
            <a:r>
              <a:rPr lang="pt-BR" sz="1500" b="1" i="1" dirty="0">
                <a:solidFill>
                  <a:srgbClr val="FF3300"/>
                </a:solidFill>
              </a:rPr>
              <a:t>Dirigir veículo com Habilitação de </a:t>
            </a:r>
            <a:r>
              <a:rPr lang="pt-BR" sz="1500" b="1" i="1" u="sng" dirty="0">
                <a:solidFill>
                  <a:srgbClr val="FF3300"/>
                </a:solidFill>
              </a:rPr>
              <a:t>categoria diferente</a:t>
            </a:r>
            <a:r>
              <a:rPr lang="pt-BR" sz="1500" b="1" i="1" dirty="0">
                <a:solidFill>
                  <a:srgbClr val="FF3300"/>
                </a:solidFill>
              </a:rPr>
              <a:t> da do veículo que esteja conduzindo</a:t>
            </a:r>
          </a:p>
        </p:txBody>
      </p:sp>
      <p:sp>
        <p:nvSpPr>
          <p:cNvPr id="8" name="Retângulo 7"/>
          <p:cNvSpPr/>
          <p:nvPr/>
        </p:nvSpPr>
        <p:spPr>
          <a:xfrm>
            <a:off x="7164288" y="1203598"/>
            <a:ext cx="1905582" cy="24047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latin typeface="Calibri" pitchFamily="34" charset="0"/>
                <a:cs typeface="Calibri" pitchFamily="34" charset="0"/>
              </a:rPr>
              <a:t>FATOR AGRAVANTE   x2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Infrações com Fator Agravante</a:t>
            </a:r>
            <a:endParaRPr lang="pt-BR" sz="2200" b="1" dirty="0"/>
          </a:p>
        </p:txBody>
      </p:sp>
    </p:spTree>
    <p:extLst>
      <p:ext uri="{BB962C8B-B14F-4D97-AF65-F5344CB8AC3E}">
        <p14:creationId xmlns:p14="http://schemas.microsoft.com/office/powerpoint/2010/main" val="117309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/>
          <p:nvPr/>
        </p:nvSpPr>
        <p:spPr>
          <a:xfrm>
            <a:off x="142844" y="1131590"/>
            <a:ext cx="8859600" cy="1708202"/>
          </a:xfrm>
          <a:prstGeom prst="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2200"/>
              </a:lnSpc>
            </a:pP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Art. 165)</a:t>
            </a:r>
            <a:r>
              <a:rPr lang="pt-BR" sz="16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*</a:t>
            </a:r>
            <a:r>
              <a:rPr lang="pt-BR" sz="1500" b="1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Dirigir sob influência de álcool ou sustância psicoativa.</a:t>
            </a:r>
          </a:p>
          <a:p>
            <a:pPr algn="just">
              <a:lnSpc>
                <a:spcPts val="2200"/>
              </a:lnSpc>
            </a:pPr>
            <a:r>
              <a:rPr lang="pt-BR" sz="1000" b="1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Art. </a:t>
            </a: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165-A)</a:t>
            </a:r>
            <a:r>
              <a:rPr lang="pt-BR" sz="16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*</a:t>
            </a:r>
            <a:r>
              <a:rPr lang="pt-BR" sz="1600" dirty="0"/>
              <a:t> </a:t>
            </a:r>
            <a:r>
              <a:rPr lang="pt-BR" sz="15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Recusar-se </a:t>
            </a:r>
            <a:r>
              <a:rPr lang="pt-BR" sz="1500" b="1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a </a:t>
            </a:r>
            <a:r>
              <a:rPr lang="pt-BR" sz="15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teste, </a:t>
            </a:r>
            <a:r>
              <a:rPr lang="pt-BR" sz="1500" b="1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... que </a:t>
            </a:r>
            <a:r>
              <a:rPr lang="pt-BR" sz="15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permita certificar influência de álcool ou outra substância psicoativa</a:t>
            </a:r>
            <a:r>
              <a:rPr lang="pt-BR" sz="1500" b="1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,...</a:t>
            </a:r>
          </a:p>
          <a:p>
            <a:pPr algn="just">
              <a:lnSpc>
                <a:spcPts val="2200"/>
              </a:lnSpc>
            </a:pP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pt-BR" sz="1000" b="1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CTB Art</a:t>
            </a: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173) </a:t>
            </a:r>
            <a:r>
              <a:rPr lang="pt-BR" sz="16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*</a:t>
            </a:r>
            <a:r>
              <a:rPr lang="pt-BR" sz="1500" b="1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Disputar corrida.</a:t>
            </a:r>
          </a:p>
          <a:p>
            <a:pPr algn="just">
              <a:lnSpc>
                <a:spcPts val="2200"/>
              </a:lnSpc>
            </a:pP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pt-BR" sz="1000" b="1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CTB Art</a:t>
            </a: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174) </a:t>
            </a:r>
            <a:r>
              <a:rPr lang="pt-BR" sz="14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*</a:t>
            </a:r>
            <a:r>
              <a:rPr lang="pt-BR" sz="1500" b="1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Promover, na via, competição, eventos, perícia, sem permissão da Autoridade de trânsito ...</a:t>
            </a:r>
          </a:p>
          <a:p>
            <a:pPr algn="just">
              <a:lnSpc>
                <a:spcPts val="2200"/>
              </a:lnSpc>
            </a:pP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pt-BR" sz="1000" b="1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CTB Art</a:t>
            </a: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175) </a:t>
            </a:r>
            <a:r>
              <a:rPr lang="pt-BR" sz="14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*</a:t>
            </a:r>
            <a:r>
              <a:rPr lang="pt-BR" sz="1500" b="1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Exibir manobra perigosa, arrancada brusca, derrapagem, frenagem com arrastamento dos pneus.</a:t>
            </a:r>
          </a:p>
          <a:p>
            <a:pPr algn="just">
              <a:lnSpc>
                <a:spcPts val="2200"/>
              </a:lnSpc>
            </a:pP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pt-BR" sz="1000" b="1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CTB Art</a:t>
            </a: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191)</a:t>
            </a:r>
            <a:r>
              <a:rPr lang="pt-BR" sz="10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6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*</a:t>
            </a:r>
            <a:r>
              <a:rPr lang="pt-BR" sz="1500" b="1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Forçar passagem entre veículos que, em sentidos opostos, estejam na iminência de passar ...</a:t>
            </a:r>
            <a:endParaRPr lang="pt-BR" sz="1500" b="1" i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7092280" y="1131590"/>
            <a:ext cx="1908404" cy="2160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latin typeface="Calibri" pitchFamily="34" charset="0"/>
                <a:cs typeface="Calibri" pitchFamily="34" charset="0"/>
              </a:rPr>
              <a:t>FATOR AGRAVANTE   x10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159821" y="3003798"/>
            <a:ext cx="8859600" cy="576064"/>
          </a:xfrm>
          <a:prstGeom prst="rect">
            <a:avLst/>
          </a:prstGeom>
          <a:solidFill>
            <a:srgbClr val="7030A0">
              <a:alpha val="10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just">
              <a:lnSpc>
                <a:spcPct val="150000"/>
              </a:lnSpc>
            </a:pPr>
            <a:r>
              <a:rPr lang="pt-BR" sz="1000" b="1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Art</a:t>
            </a:r>
            <a:r>
              <a:rPr lang="pt-BR" sz="1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253 A)</a:t>
            </a:r>
            <a:r>
              <a:rPr lang="pt-BR" sz="16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*</a:t>
            </a:r>
            <a:r>
              <a:rPr lang="pt-BR" sz="1500" b="1" i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Usar qualquer veículo </a:t>
            </a:r>
            <a:r>
              <a:rPr lang="pt-BR" sz="1500" b="1" i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para, deliberadamente, interromper, restringir ou perturbar a </a:t>
            </a:r>
            <a:r>
              <a:rPr lang="pt-BR" sz="1500" b="1" i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circulação...</a:t>
            </a:r>
            <a:endParaRPr lang="pt-BR" sz="1500" b="1" i="1" dirty="0">
              <a:solidFill>
                <a:srgbClr val="7030A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7164287" y="3003798"/>
            <a:ext cx="1853373" cy="21602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latin typeface="Calibri" pitchFamily="34" charset="0"/>
                <a:cs typeface="Calibri" pitchFamily="34" charset="0"/>
              </a:rPr>
              <a:t>FATOR AGRAVANTE   x20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159490" y="3750574"/>
            <a:ext cx="8859600" cy="72521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just">
              <a:lnSpc>
                <a:spcPct val="150000"/>
              </a:lnSpc>
            </a:pPr>
            <a:r>
              <a:rPr lang="pt-BR" sz="1000" b="1" i="1" dirty="0" smtClean="0">
                <a:solidFill>
                  <a:schemeClr val="tx1"/>
                </a:solidFill>
              </a:rPr>
              <a:t>(CTB Art. 253 A § 1º) </a:t>
            </a:r>
            <a:r>
              <a:rPr lang="pt-BR" sz="1500" b="1" i="1" dirty="0" smtClean="0">
                <a:solidFill>
                  <a:schemeClr val="tx1"/>
                </a:solidFill>
              </a:rPr>
              <a:t>*Aplica-se </a:t>
            </a:r>
            <a:r>
              <a:rPr lang="pt-BR" sz="1500" b="1" i="1" dirty="0">
                <a:solidFill>
                  <a:schemeClr val="tx1"/>
                </a:solidFill>
              </a:rPr>
              <a:t>a multa agravada em 60 </a:t>
            </a:r>
            <a:r>
              <a:rPr lang="pt-BR" sz="1500" b="1" i="1" dirty="0" smtClean="0">
                <a:solidFill>
                  <a:schemeClr val="tx1"/>
                </a:solidFill>
              </a:rPr>
              <a:t>vezes </a:t>
            </a:r>
            <a:r>
              <a:rPr lang="pt-BR" sz="1500" b="1" i="1" dirty="0">
                <a:solidFill>
                  <a:schemeClr val="tx1"/>
                </a:solidFill>
              </a:rPr>
              <a:t>aos </a:t>
            </a:r>
            <a:r>
              <a:rPr lang="pt-BR" sz="1500" b="1" i="1" dirty="0" smtClean="0">
                <a:solidFill>
                  <a:schemeClr val="tx1"/>
                </a:solidFill>
              </a:rPr>
              <a:t>organizadores da conduta prevista no caput.</a:t>
            </a:r>
            <a:endParaRPr lang="pt-BR" sz="1500" b="1" i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7170575" y="3737696"/>
            <a:ext cx="1853043" cy="2613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latin typeface="Calibri" pitchFamily="34" charset="0"/>
                <a:cs typeface="Calibri" pitchFamily="34" charset="0"/>
              </a:rPr>
              <a:t>FATOR AGRAVANTE   x60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5220072" y="4578244"/>
            <a:ext cx="3780612" cy="292388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1300" b="1" dirty="0" smtClean="0">
                <a:solidFill>
                  <a:srgbClr val="FF0000"/>
                </a:solidFill>
              </a:rPr>
              <a:t>O fator agravante só incide sobre o VALOR da multa</a:t>
            </a:r>
            <a:endParaRPr lang="pt-BR" sz="1300" b="1" dirty="0">
              <a:solidFill>
                <a:srgbClr val="FF0000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94215" y="4520022"/>
            <a:ext cx="4621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 smtClean="0">
                <a:solidFill>
                  <a:srgbClr val="FF0000"/>
                </a:solidFill>
              </a:rPr>
              <a:t>* Em caso de reincidência aplica-se, o valor da multa, em DOBRO.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17" name="CaixaDeTexto 16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Infrações com Fator Agravante</a:t>
            </a:r>
            <a:endParaRPr lang="pt-BR" sz="2200" b="1" dirty="0"/>
          </a:p>
        </p:txBody>
      </p:sp>
    </p:spTree>
    <p:extLst>
      <p:ext uri="{BB962C8B-B14F-4D97-AF65-F5344CB8AC3E}">
        <p14:creationId xmlns:p14="http://schemas.microsoft.com/office/powerpoint/2010/main" val="163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de cantos arredondados 7"/>
          <p:cNvSpPr/>
          <p:nvPr/>
        </p:nvSpPr>
        <p:spPr>
          <a:xfrm>
            <a:off x="127969" y="1202499"/>
            <a:ext cx="6661974" cy="7143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...penalidade aplicada com a finalidade de retirar do Condutor Infrator, por prazo determinado,  o seu direito de dirigir. Poderá ser aplicada quando:</a:t>
            </a:r>
            <a:endParaRPr lang="pt-BR" sz="1600" b="1" i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0" y="2067694"/>
            <a:ext cx="5429582" cy="357190"/>
          </a:xfrm>
          <a:prstGeom prst="rect">
            <a:avLst/>
          </a:prstGeom>
          <a:solidFill>
            <a:srgbClr val="0066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O infrator atingir 20 PONTOS em seu prontuário</a:t>
            </a:r>
            <a:endParaRPr lang="pt-BR" b="1" i="1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0" y="3219822"/>
            <a:ext cx="5429582" cy="357190"/>
          </a:xfrm>
          <a:prstGeom prst="rect">
            <a:avLst/>
          </a:prstGeom>
          <a:solidFill>
            <a:srgbClr val="0066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7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Cometer infrações que preveem a suspensão DIRETA</a:t>
            </a:r>
            <a:endParaRPr lang="pt-BR" sz="1700" b="1" i="1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461030" y="2515022"/>
            <a:ext cx="4572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►Mínimo 6 e máximo 12 meses</a:t>
            </a:r>
          </a:p>
          <a:p>
            <a:r>
              <a:rPr lang="pt-BR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►Mínimo 8 e máximo 24 meses - </a:t>
            </a:r>
            <a:r>
              <a:rPr lang="pt-BR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Reincidência</a:t>
            </a:r>
            <a:endParaRPr lang="pt-BR" i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488493" y="3633125"/>
            <a:ext cx="4572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►Mínimo 2 e máximo 8 meses</a:t>
            </a:r>
          </a:p>
          <a:p>
            <a:r>
              <a:rPr lang="pt-BR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►Mínimo 8 e máximo 18 meses - </a:t>
            </a:r>
            <a:r>
              <a:rPr lang="pt-BR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Reincidência</a:t>
            </a:r>
            <a:endParaRPr lang="pt-BR" i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938" y="2433976"/>
            <a:ext cx="3491062" cy="923592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892" y="1071552"/>
            <a:ext cx="2000264" cy="1247429"/>
          </a:xfrm>
          <a:prstGeom prst="rect">
            <a:avLst/>
          </a:prstGeom>
        </p:spPr>
      </p:pic>
      <p:sp>
        <p:nvSpPr>
          <p:cNvPr id="2" name="Seta para a direita 1"/>
          <p:cNvSpPr/>
          <p:nvPr/>
        </p:nvSpPr>
        <p:spPr>
          <a:xfrm>
            <a:off x="144710" y="4407954"/>
            <a:ext cx="792088" cy="360040"/>
          </a:xfrm>
          <a:prstGeom prst="right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EXCETO</a:t>
            </a:r>
          </a:p>
        </p:txBody>
      </p:sp>
      <p:sp>
        <p:nvSpPr>
          <p:cNvPr id="6" name="Retângulo 5"/>
          <p:cNvSpPr/>
          <p:nvPr/>
        </p:nvSpPr>
        <p:spPr>
          <a:xfrm>
            <a:off x="1115616" y="4443958"/>
            <a:ext cx="4385974" cy="288032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Art. 165, 165A e 253A -</a:t>
            </a:r>
            <a:r>
              <a:rPr lang="pt-BR" sz="1600" b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6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12 meses</a:t>
            </a:r>
          </a:p>
        </p:txBody>
      </p:sp>
      <p:pic>
        <p:nvPicPr>
          <p:cNvPr id="15" name="Imagem 14" descr="dica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57950" y="3357568"/>
            <a:ext cx="1905000" cy="1581150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Suspensão do Direito de Dirigir </a:t>
            </a:r>
            <a:r>
              <a:rPr lang="pt-BR" sz="1000" b="1" dirty="0" smtClean="0"/>
              <a:t>(CTB art. 261)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991127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95536" y="2213603"/>
            <a:ext cx="849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1   2   3   4   5   6   7   8   9   10   11   12   13   14   15   16   17   18   19   20   21   22   23   24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0" y="1347614"/>
            <a:ext cx="6732240" cy="357190"/>
          </a:xfrm>
          <a:prstGeom prst="rect">
            <a:avLst/>
          </a:prstGeom>
          <a:solidFill>
            <a:srgbClr val="0066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O infrator atingir </a:t>
            </a:r>
            <a:r>
              <a:rPr lang="pt-BR" b="1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20 PONTOS</a:t>
            </a:r>
            <a:r>
              <a:rPr lang="pt-BR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 em seu prontuário</a:t>
            </a:r>
            <a:endParaRPr lang="pt-BR" b="1" i="1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0" y="3147814"/>
            <a:ext cx="6732240" cy="357190"/>
          </a:xfrm>
          <a:prstGeom prst="rect">
            <a:avLst/>
          </a:prstGeom>
          <a:solidFill>
            <a:srgbClr val="0066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Cometer infrações </a:t>
            </a:r>
            <a:r>
              <a:rPr lang="pt-BR" b="1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ESPECÍFICAS</a:t>
            </a:r>
            <a:r>
              <a:rPr lang="pt-BR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 que preveem a suspensão</a:t>
            </a:r>
            <a:endParaRPr lang="pt-BR" b="1" i="1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330728" y="4083918"/>
            <a:ext cx="849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1   2   3   4   5   6   7   8   9   10   11   12   13   14   15   16   17   18   19   20   21   22   23   24</a:t>
            </a:r>
            <a:endParaRPr lang="pt-BR" dirty="0"/>
          </a:p>
        </p:txBody>
      </p:sp>
      <p:sp>
        <p:nvSpPr>
          <p:cNvPr id="3" name="Colchete esquerdo 2"/>
          <p:cNvSpPr/>
          <p:nvPr/>
        </p:nvSpPr>
        <p:spPr>
          <a:xfrm rot="5400000">
            <a:off x="2821715" y="1197356"/>
            <a:ext cx="139298" cy="2232248"/>
          </a:xfrm>
          <a:prstGeom prst="leftBracket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olchete esquerdo 9"/>
          <p:cNvSpPr/>
          <p:nvPr/>
        </p:nvSpPr>
        <p:spPr>
          <a:xfrm rot="5400000">
            <a:off x="1501793" y="3261073"/>
            <a:ext cx="139298" cy="1824652"/>
          </a:xfrm>
          <a:prstGeom prst="leftBracket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olchete esquerdo 10"/>
          <p:cNvSpPr/>
          <p:nvPr/>
        </p:nvSpPr>
        <p:spPr>
          <a:xfrm rot="16200000">
            <a:off x="5440282" y="-667274"/>
            <a:ext cx="142843" cy="6329504"/>
          </a:xfrm>
          <a:prstGeom prst="leftBracket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olchete esquerdo 13"/>
          <p:cNvSpPr/>
          <p:nvPr/>
        </p:nvSpPr>
        <p:spPr>
          <a:xfrm rot="16200000">
            <a:off x="4210826" y="2330196"/>
            <a:ext cx="157839" cy="4044000"/>
          </a:xfrm>
          <a:prstGeom prst="leftBracket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2123728" y="1967322"/>
            <a:ext cx="1425390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600" b="1" dirty="0" smtClean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1ª INCIDÊNCIA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858747" y="3818722"/>
            <a:ext cx="1425390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600" b="1" dirty="0" smtClean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1ª INCIDÊNCIA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541065" y="4403908"/>
            <a:ext cx="1404552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6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REINCIDÊNCIA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4606298" y="2556482"/>
            <a:ext cx="1404552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6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REINCIDÊNCIA</a:t>
            </a: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20" name="CaixaDeTexto 19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Suspensão do Direito de Dirigir </a:t>
            </a:r>
            <a:r>
              <a:rPr lang="pt-BR" sz="1000" b="1" dirty="0" smtClean="0"/>
              <a:t>(CTB art. 261)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81583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  <p:bldP spid="14" grpId="0" animBg="1"/>
      <p:bldP spid="4" grpId="0"/>
      <p:bldP spid="16" grpId="0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71406" y="1059582"/>
            <a:ext cx="9072594" cy="38490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just">
              <a:lnSpc>
                <a:spcPts val="2300"/>
              </a:lnSpc>
            </a:pP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Art. </a:t>
            </a:r>
            <a:r>
              <a:rPr lang="pt-BR" sz="1000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148-A § </a:t>
            </a: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5º) </a:t>
            </a:r>
            <a:r>
              <a:rPr lang="pt-BR" sz="1400" b="1" i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Reprovação no </a:t>
            </a:r>
            <a:r>
              <a:rPr lang="pt-BR" sz="1400" b="1" i="1" u="sng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Exame Toxicológico</a:t>
            </a:r>
            <a:r>
              <a:rPr lang="pt-BR" sz="1400" b="1" i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000" b="1" i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[não é infração de trânsito]</a:t>
            </a:r>
            <a:r>
              <a:rPr lang="pt-BR" sz="1400" b="1" i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algn="just">
              <a:lnSpc>
                <a:spcPts val="2300"/>
              </a:lnSpc>
            </a:pP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pt-BR" sz="1000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CTB Art. 165) </a:t>
            </a:r>
            <a:r>
              <a:rPr lang="pt-BR" sz="1400" b="1" i="1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Dirigir sob </a:t>
            </a:r>
            <a:r>
              <a:rPr lang="pt-BR" sz="1400" b="1" i="1" u="sng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influência de álcool </a:t>
            </a:r>
            <a:r>
              <a:rPr lang="pt-BR" sz="1400" b="1" i="1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ou sustância psicoativa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algn="just">
              <a:lnSpc>
                <a:spcPts val="2300"/>
              </a:lnSpc>
            </a:pP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pt-BR" sz="1000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CTB Art. </a:t>
            </a: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165 A) </a:t>
            </a:r>
            <a:r>
              <a:rPr lang="pt-BR" sz="1400" b="1" i="1" u="sng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Recusar-se </a:t>
            </a:r>
            <a:r>
              <a:rPr lang="pt-BR" sz="1400" b="1" i="1" u="sng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ao </a:t>
            </a:r>
            <a:r>
              <a:rPr lang="pt-BR" sz="1400" b="1" i="1" u="sng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teste</a:t>
            </a:r>
            <a:r>
              <a:rPr lang="pt-BR" sz="1400" b="1" i="1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... </a:t>
            </a:r>
            <a:r>
              <a:rPr lang="pt-BR" sz="1400" b="1" i="1" dirty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que permita certificar influência de álcool ou outra substância 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psicoativa, ...</a:t>
            </a:r>
          </a:p>
          <a:p>
            <a:pPr algn="just">
              <a:lnSpc>
                <a:spcPts val="2300"/>
              </a:lnSpc>
            </a:pP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</a:t>
            </a:r>
            <a:r>
              <a:rPr lang="pt-BR" sz="1000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Art</a:t>
            </a: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170) 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Dirigir </a:t>
            </a:r>
            <a:r>
              <a:rPr lang="pt-BR" sz="1400" b="1" i="1" u="sng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ameaçando os pedestres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 que estejam atravessando a via, ou demais veículos.</a:t>
            </a:r>
          </a:p>
          <a:p>
            <a:pPr algn="just">
              <a:lnSpc>
                <a:spcPts val="2300"/>
              </a:lnSpc>
            </a:pP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</a:t>
            </a:r>
            <a:r>
              <a:rPr lang="pt-BR" sz="1000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Art</a:t>
            </a: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173) 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Disputar corrida.</a:t>
            </a:r>
          </a:p>
          <a:p>
            <a:pPr algn="just">
              <a:lnSpc>
                <a:spcPts val="2300"/>
              </a:lnSpc>
            </a:pP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</a:t>
            </a:r>
            <a:r>
              <a:rPr lang="pt-BR" sz="1000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Art</a:t>
            </a: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174) 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Promover, na via, </a:t>
            </a:r>
            <a:r>
              <a:rPr lang="pt-BR" sz="1400" b="1" i="1" u="sng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competição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, eventos, perícia, sem permissão da Autoridade de trânsito ...</a:t>
            </a:r>
          </a:p>
          <a:p>
            <a:pPr algn="just">
              <a:lnSpc>
                <a:spcPts val="2300"/>
              </a:lnSpc>
            </a:pP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</a:t>
            </a:r>
            <a:r>
              <a:rPr lang="pt-BR" sz="1000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Art</a:t>
            </a: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175) 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Exibir </a:t>
            </a:r>
            <a:r>
              <a:rPr lang="pt-BR" sz="1400" b="1" i="1" u="sng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manobra perigosa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, arrancada brusca, derrapagem, frenagem com arrastamento dos pneus.</a:t>
            </a:r>
          </a:p>
          <a:p>
            <a:pPr algn="just">
              <a:lnSpc>
                <a:spcPts val="2300"/>
              </a:lnSpc>
            </a:pP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</a:t>
            </a:r>
            <a:r>
              <a:rPr lang="pt-BR" sz="1000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Art</a:t>
            </a: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176) 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Deixar, o condutor envolvido em acidentes com vítima, de </a:t>
            </a:r>
            <a:r>
              <a:rPr lang="pt-BR" sz="1400" b="1" i="1" u="sng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prestar ou providenciar socorro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...</a:t>
            </a:r>
          </a:p>
          <a:p>
            <a:pPr algn="just">
              <a:lnSpc>
                <a:spcPts val="2300"/>
              </a:lnSpc>
            </a:pP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</a:t>
            </a:r>
            <a:r>
              <a:rPr lang="pt-BR" sz="1000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Art</a:t>
            </a: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191)</a:t>
            </a:r>
            <a:r>
              <a:rPr lang="pt-BR" sz="1000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400" b="1" i="1" u="sng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Forçar passagem 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entre veículos que, em sentidos opostos estejam na iminência de passar um pelo outro.</a:t>
            </a:r>
          </a:p>
          <a:p>
            <a:pPr algn="just">
              <a:lnSpc>
                <a:spcPts val="2300"/>
              </a:lnSpc>
            </a:pP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</a:t>
            </a:r>
            <a:r>
              <a:rPr lang="pt-BR" sz="1000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Art</a:t>
            </a: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210)</a:t>
            </a:r>
            <a:r>
              <a:rPr lang="pt-BR" sz="1000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Transpor, sem autorização, </a:t>
            </a:r>
            <a:r>
              <a:rPr lang="pt-BR" sz="1400" b="1" i="1" u="sng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bloqueio policial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algn="just">
              <a:lnSpc>
                <a:spcPts val="2300"/>
              </a:lnSpc>
            </a:pP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</a:t>
            </a:r>
            <a:r>
              <a:rPr lang="pt-BR" sz="1000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Art</a:t>
            </a: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218 III) 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Transitar em velocidade </a:t>
            </a:r>
            <a:r>
              <a:rPr lang="pt-BR" sz="1400" b="1" i="1" u="sng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superior à máxima 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em + de 50%.</a:t>
            </a:r>
          </a:p>
          <a:p>
            <a:pPr algn="just">
              <a:lnSpc>
                <a:spcPts val="2300"/>
              </a:lnSpc>
            </a:pP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</a:t>
            </a:r>
            <a:r>
              <a:rPr lang="pt-BR" sz="1000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Art</a:t>
            </a: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244) 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Conduzir motocicleta: </a:t>
            </a:r>
            <a:r>
              <a:rPr lang="pt-BR" sz="1400" b="1" i="1" u="sng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sem capacete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, fazendo malabarismo, faróis apagados, menor de 7 anos...</a:t>
            </a:r>
          </a:p>
          <a:p>
            <a:pPr algn="just">
              <a:lnSpc>
                <a:spcPts val="2300"/>
              </a:lnSpc>
            </a:pP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</a:t>
            </a:r>
            <a:r>
              <a:rPr lang="pt-BR" sz="1000" i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Art. </a:t>
            </a:r>
            <a:r>
              <a:rPr lang="pt-BR" sz="1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253 A) 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Usar o veículo para, </a:t>
            </a:r>
            <a:r>
              <a:rPr lang="pt-BR" sz="1400" b="1" i="1" u="sng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deliberadamente, interromper</a:t>
            </a:r>
            <a:r>
              <a:rPr lang="pt-BR" sz="14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, restringir ou perturbar a circulação na via.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Suspensão do Direito de Dirigir </a:t>
            </a:r>
            <a:r>
              <a:rPr lang="pt-BR" sz="1000" b="1" dirty="0" smtClean="0"/>
              <a:t>(CTB art. 261)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041586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de cantos arredondados 13"/>
          <p:cNvSpPr/>
          <p:nvPr/>
        </p:nvSpPr>
        <p:spPr>
          <a:xfrm>
            <a:off x="3491880" y="1635646"/>
            <a:ext cx="4752527" cy="2592288"/>
          </a:xfrm>
          <a:prstGeom prst="roundRect">
            <a:avLst>
              <a:gd name="adj" fmla="val 5676"/>
            </a:avLst>
          </a:prstGeom>
          <a:solidFill>
            <a:srgbClr val="FFFF0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500"/>
              </a:lnSpc>
            </a:pPr>
            <a:r>
              <a:rPr lang="pt-BR" sz="26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Não existe</a:t>
            </a:r>
          </a:p>
          <a:p>
            <a:pPr algn="ctr">
              <a:lnSpc>
                <a:spcPts val="3500"/>
              </a:lnSpc>
            </a:pPr>
            <a:r>
              <a:rPr lang="pt-BR" sz="26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uma </a:t>
            </a:r>
            <a:r>
              <a:rPr lang="pt-BR" sz="2600" b="1" i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infração </a:t>
            </a:r>
            <a:r>
              <a:rPr lang="pt-BR" sz="2600" b="1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ÚNICA</a:t>
            </a:r>
          </a:p>
          <a:p>
            <a:pPr algn="ctr">
              <a:lnSpc>
                <a:spcPts val="3500"/>
              </a:lnSpc>
            </a:pPr>
            <a:r>
              <a:rPr lang="pt-BR" sz="26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que acarrete</a:t>
            </a:r>
          </a:p>
          <a:p>
            <a:pPr algn="ctr">
              <a:lnSpc>
                <a:spcPts val="3500"/>
              </a:lnSpc>
            </a:pPr>
            <a:r>
              <a:rPr lang="pt-BR" sz="2600" b="1" i="1" u="sng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Suspensão</a:t>
            </a:r>
            <a:r>
              <a:rPr lang="pt-BR" sz="26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do Direito de Dirigir que NÃO seja </a:t>
            </a:r>
            <a:r>
              <a:rPr lang="pt-BR" sz="2600" b="1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Gravíssima</a:t>
            </a:r>
            <a:endParaRPr lang="pt-BR" sz="2600" b="1" i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5" name="Imagem 4" descr="DICA 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1472" y="1714494"/>
            <a:ext cx="2495550" cy="251460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Suspensão do Direito de Dirigir </a:t>
            </a:r>
            <a:r>
              <a:rPr lang="pt-BR" sz="1000" b="1" dirty="0" smtClean="0"/>
              <a:t>(CTB art. 261)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0076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0" y="1428742"/>
            <a:ext cx="6429388" cy="1500198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>
              <a:lnSpc>
                <a:spcPct val="150000"/>
              </a:lnSpc>
            </a:pPr>
            <a:r>
              <a:rPr lang="pt-BR" sz="20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►Cometer qualquer infração Grave ou Gravíssima</a:t>
            </a:r>
          </a:p>
          <a:p>
            <a:pPr>
              <a:lnSpc>
                <a:spcPct val="150000"/>
              </a:lnSpc>
            </a:pPr>
            <a:r>
              <a:rPr lang="pt-BR" sz="20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►For Reincidente em infrações Médias</a:t>
            </a:r>
            <a:endParaRPr lang="pt-BR" sz="2000" b="1" i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0" y="1428742"/>
            <a:ext cx="6429388" cy="4286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(CTB Art. 148 </a:t>
            </a:r>
            <a:r>
              <a:rPr lang="pt-BR" sz="1000" b="1" dirty="0" smtClean="0"/>
              <a:t>§ 3º, § 4º</a:t>
            </a:r>
            <a:r>
              <a:rPr lang="pt-BR" sz="10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)</a:t>
            </a:r>
            <a:r>
              <a:rPr lang="pt-BR" sz="20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...ocorrerá quanto o Condutor</a:t>
            </a:r>
            <a:endParaRPr lang="pt-BR" sz="20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2602516" y="3516404"/>
            <a:ext cx="5857916" cy="1071570"/>
          </a:xfrm>
          <a:prstGeom prst="roundRect">
            <a:avLst/>
          </a:prstGeom>
          <a:solidFill>
            <a:srgbClr val="FFFF00"/>
          </a:solidFill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2000" b="1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 reabilitação poderá ocorrer A QUALQUER TEMPO.</a:t>
            </a:r>
          </a:p>
          <a:p>
            <a:pPr algn="ctr">
              <a:lnSpc>
                <a:spcPct val="150000"/>
              </a:lnSpc>
            </a:pPr>
            <a:r>
              <a:rPr lang="pt-BR" sz="2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►Terá que refazer todos os exames.</a:t>
            </a:r>
            <a:endParaRPr lang="pt-BR" sz="2000" b="1" i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6" name="Imagem 15" descr="PPD CASSADA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00892" y="1214428"/>
            <a:ext cx="1785950" cy="1785950"/>
          </a:xfrm>
          <a:prstGeom prst="rect">
            <a:avLst/>
          </a:prstGeom>
        </p:spPr>
      </p:pic>
      <p:sp>
        <p:nvSpPr>
          <p:cNvPr id="2" name="Seta para a direita 1"/>
          <p:cNvSpPr/>
          <p:nvPr/>
        </p:nvSpPr>
        <p:spPr>
          <a:xfrm>
            <a:off x="1331640" y="3696424"/>
            <a:ext cx="864096" cy="711530"/>
          </a:xfrm>
          <a:prstGeom prst="righ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Cassação da PPD / ACC provisória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57750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CNH CASSADA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1209781"/>
            <a:ext cx="1785600" cy="1785600"/>
          </a:xfrm>
          <a:prstGeom prst="rect">
            <a:avLst/>
          </a:prstGeom>
        </p:spPr>
      </p:pic>
      <p:sp>
        <p:nvSpPr>
          <p:cNvPr id="14" name="Retângulo 13"/>
          <p:cNvSpPr/>
          <p:nvPr/>
        </p:nvSpPr>
        <p:spPr>
          <a:xfrm>
            <a:off x="2500298" y="1142990"/>
            <a:ext cx="6215106" cy="1928826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265113" indent="-265113">
              <a:lnSpc>
                <a:spcPct val="150000"/>
              </a:lnSpc>
              <a:buFont typeface="+mj-lt"/>
              <a:buAutoNum type="arabicPeriod"/>
            </a:pPr>
            <a:r>
              <a:rPr lang="pt-BR" sz="20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Dirigir estando com o direito de dirigir Suspenso</a:t>
            </a:r>
          </a:p>
          <a:p>
            <a:pPr marL="265113" indent="-265113">
              <a:lnSpc>
                <a:spcPct val="150000"/>
              </a:lnSpc>
              <a:buFont typeface="+mj-lt"/>
              <a:buAutoNum type="arabicPeriod"/>
            </a:pPr>
            <a:r>
              <a:rPr lang="pt-BR" sz="20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Condenado judicialmente por Delito de Trânsito</a:t>
            </a:r>
          </a:p>
          <a:p>
            <a:pPr marL="265113" indent="-265113">
              <a:lnSpc>
                <a:spcPct val="150000"/>
              </a:lnSpc>
              <a:buFont typeface="+mj-lt"/>
              <a:buAutoNum type="arabicPeriod"/>
            </a:pPr>
            <a:r>
              <a:rPr lang="pt-BR" sz="20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For Reincidente nas seguintes Infrações:</a:t>
            </a:r>
            <a:endParaRPr lang="pt-BR" sz="2000" b="1" i="1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2500298" y="1142990"/>
            <a:ext cx="6215106" cy="428628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(CTB Art. 263)</a:t>
            </a:r>
            <a:r>
              <a:rPr lang="pt-BR" sz="20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...ocorrerá quanto o condutor</a:t>
            </a:r>
            <a:endParaRPr lang="pt-BR" sz="20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214282" y="3214692"/>
            <a:ext cx="435771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pt-BR" sz="14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►Dirigir com CNH de Categoria adversa ao veículo</a:t>
            </a:r>
          </a:p>
          <a:p>
            <a:pPr lvl="0">
              <a:lnSpc>
                <a:spcPct val="150000"/>
              </a:lnSpc>
            </a:pPr>
            <a:r>
              <a:rPr lang="pt-BR" sz="14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</a:t>
            </a:r>
            <a:r>
              <a:rPr lang="pt-BR" sz="12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Entregar/permitir a direção à pessoa inabilitada/incapacitada</a:t>
            </a:r>
          </a:p>
          <a:p>
            <a:pPr lvl="0">
              <a:lnSpc>
                <a:spcPct val="150000"/>
              </a:lnSpc>
            </a:pPr>
            <a:r>
              <a:rPr lang="pt-BR" sz="14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►Dirigir sob influência de álcool ou entorpecente</a:t>
            </a:r>
            <a:endParaRPr lang="pt-BR" sz="1400" b="1" i="1" dirty="0">
              <a:solidFill>
                <a:srgbClr val="006600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4500562" y="3214692"/>
            <a:ext cx="421484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►Disputar corrida</a:t>
            </a:r>
          </a:p>
          <a:p>
            <a:pPr>
              <a:lnSpc>
                <a:spcPct val="150000"/>
              </a:lnSpc>
            </a:pPr>
            <a:r>
              <a:rPr lang="pt-BR" sz="14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►Promover competição esportiva sem autorização</a:t>
            </a:r>
          </a:p>
          <a:p>
            <a:pPr>
              <a:lnSpc>
                <a:spcPct val="150000"/>
              </a:lnSpc>
            </a:pPr>
            <a:r>
              <a:rPr lang="pt-BR" sz="14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►Demonstrar ou exibir manobra perigosa</a:t>
            </a:r>
            <a:endParaRPr lang="pt-BR" sz="1400" b="1" i="1" dirty="0">
              <a:solidFill>
                <a:srgbClr val="006600"/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2143108" y="4450881"/>
            <a:ext cx="4429156" cy="357190"/>
          </a:xfrm>
          <a:prstGeom prst="round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Reabilitação somente após 2 anos  </a:t>
            </a:r>
            <a:endParaRPr lang="pt-BR" b="1" i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Chave direita 9"/>
          <p:cNvSpPr/>
          <p:nvPr/>
        </p:nvSpPr>
        <p:spPr>
          <a:xfrm rot="16200000">
            <a:off x="4036215" y="-892993"/>
            <a:ext cx="500066" cy="8286808"/>
          </a:xfrm>
          <a:prstGeom prst="rightBrace">
            <a:avLst>
              <a:gd name="adj1" fmla="val 52540"/>
              <a:gd name="adj2" fmla="val 51126"/>
            </a:avLst>
          </a:prstGeom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ivisa 10"/>
          <p:cNvSpPr/>
          <p:nvPr/>
        </p:nvSpPr>
        <p:spPr>
          <a:xfrm>
            <a:off x="1643042" y="4500576"/>
            <a:ext cx="285752" cy="285752"/>
          </a:xfrm>
          <a:prstGeom prst="chevr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Divisa 11"/>
          <p:cNvSpPr/>
          <p:nvPr/>
        </p:nvSpPr>
        <p:spPr>
          <a:xfrm>
            <a:off x="1357290" y="4500576"/>
            <a:ext cx="285752" cy="285752"/>
          </a:xfrm>
          <a:prstGeom prst="chevr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Divisa 12"/>
          <p:cNvSpPr/>
          <p:nvPr/>
        </p:nvSpPr>
        <p:spPr>
          <a:xfrm>
            <a:off x="1071538" y="4500576"/>
            <a:ext cx="285752" cy="285752"/>
          </a:xfrm>
          <a:prstGeom prst="chevr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" name="Divisa 22"/>
          <p:cNvSpPr/>
          <p:nvPr/>
        </p:nvSpPr>
        <p:spPr>
          <a:xfrm flipH="1">
            <a:off x="7000892" y="4500576"/>
            <a:ext cx="285752" cy="285752"/>
          </a:xfrm>
          <a:prstGeom prst="chevr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4" name="Divisa 23"/>
          <p:cNvSpPr/>
          <p:nvPr/>
        </p:nvSpPr>
        <p:spPr>
          <a:xfrm flipH="1">
            <a:off x="6715140" y="4500576"/>
            <a:ext cx="285752" cy="285752"/>
          </a:xfrm>
          <a:prstGeom prst="chevr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5" name="Divisa 24"/>
          <p:cNvSpPr/>
          <p:nvPr/>
        </p:nvSpPr>
        <p:spPr>
          <a:xfrm flipH="1">
            <a:off x="7286644" y="4500576"/>
            <a:ext cx="285752" cy="285752"/>
          </a:xfrm>
          <a:prstGeom prst="chevr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20" name="CaixaDeTexto 19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Cassação da CNH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278221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0" grpId="0" animBg="1"/>
      <p:bldP spid="11" grpId="0" animBg="1"/>
      <p:bldP spid="12" grpId="0" animBg="1"/>
      <p:bldP spid="13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de cantos arredondados 9"/>
          <p:cNvSpPr/>
          <p:nvPr/>
        </p:nvSpPr>
        <p:spPr>
          <a:xfrm>
            <a:off x="179512" y="1203598"/>
            <a:ext cx="8881688" cy="380274"/>
          </a:xfrm>
          <a:prstGeom prst="roundRect">
            <a:avLst>
              <a:gd name="adj" fmla="val 8099"/>
            </a:avLst>
          </a:prstGeom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O condutor será submetido a CURSO DE RECICLAGEM, quando </a:t>
            </a:r>
            <a:endParaRPr lang="pt-BR" sz="2000" b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3275856" y="1779662"/>
            <a:ext cx="5857916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7188" indent="-357188">
              <a:spcAft>
                <a:spcPts val="600"/>
              </a:spcAft>
              <a:buFont typeface="+mj-lt"/>
              <a:buAutoNum type="romanUcPeriod"/>
            </a:pPr>
            <a:r>
              <a:rPr lang="pt-BR" sz="20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for </a:t>
            </a:r>
            <a:r>
              <a:rPr lang="pt-BR" sz="2000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considerado Infrator </a:t>
            </a:r>
            <a:r>
              <a:rPr lang="pt-BR" sz="20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Contumaz;</a:t>
            </a:r>
          </a:p>
          <a:p>
            <a:pPr marL="357188" indent="-357188">
              <a:spcAft>
                <a:spcPts val="600"/>
              </a:spcAft>
              <a:buFont typeface="+mj-lt"/>
              <a:buAutoNum type="romanUcPeriod"/>
            </a:pPr>
            <a:r>
              <a:rPr lang="pt-BR" sz="20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tiver o Direito de Dirigir Suspenso;</a:t>
            </a:r>
          </a:p>
          <a:p>
            <a:pPr marL="357188" indent="-357188">
              <a:spcAft>
                <a:spcPts val="600"/>
              </a:spcAft>
              <a:buFont typeface="+mj-lt"/>
              <a:buAutoNum type="romanUcPeriod"/>
            </a:pPr>
            <a:r>
              <a:rPr lang="pt-BR" sz="20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envolver-se em acidente grave;</a:t>
            </a:r>
          </a:p>
          <a:p>
            <a:pPr marL="357188" indent="-357188">
              <a:spcAft>
                <a:spcPts val="600"/>
              </a:spcAft>
              <a:buFont typeface="+mj-lt"/>
              <a:buAutoNum type="romanUcPeriod"/>
            </a:pPr>
            <a:r>
              <a:rPr lang="pt-BR" sz="20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for </a:t>
            </a:r>
            <a:r>
              <a:rPr lang="pt-BR" sz="2000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condenado por Delito de </a:t>
            </a:r>
            <a:r>
              <a:rPr lang="pt-BR" sz="20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Trânsito;</a:t>
            </a:r>
          </a:p>
          <a:p>
            <a:pPr marL="357188" indent="-357188">
              <a:spcAft>
                <a:spcPts val="600"/>
              </a:spcAft>
              <a:buFont typeface="+mj-lt"/>
              <a:buAutoNum type="romanUcPeriod"/>
            </a:pPr>
            <a:r>
              <a:rPr lang="pt-BR" sz="20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colocar em risco a segurança do trânsito;</a:t>
            </a:r>
          </a:p>
          <a:p>
            <a:pPr marL="357188" indent="-357188">
              <a:spcAft>
                <a:spcPts val="600"/>
              </a:spcAft>
              <a:buFont typeface="+mj-lt"/>
              <a:buAutoNum type="romanUcPeriod"/>
            </a:pPr>
            <a:r>
              <a:rPr lang="pt-BR" sz="20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 qualquer tempo, conforme dispuser o CONTRAN.</a:t>
            </a:r>
            <a:endParaRPr lang="pt-BR" sz="2000" i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Retângulo de cantos arredondados 1"/>
          <p:cNvSpPr/>
          <p:nvPr/>
        </p:nvSpPr>
        <p:spPr>
          <a:xfrm>
            <a:off x="0" y="4252521"/>
            <a:ext cx="9144000" cy="623485"/>
          </a:xfrm>
          <a:prstGeom prst="roundRect">
            <a:avLst>
              <a:gd name="adj" fmla="val 0"/>
            </a:avLst>
          </a:prstGeom>
          <a:solidFill>
            <a:srgbClr val="FFFF00">
              <a:alpha val="3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O condutor habilitado nas categorias C, D ou E, que exerce Atividade Remunerada, PODERÁ fazer </a:t>
            </a:r>
            <a:r>
              <a:rPr lang="pt-BR" sz="16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Curso  Preventivo de Reciclagem</a:t>
            </a:r>
            <a:r>
              <a:rPr lang="pt-BR" sz="16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, sempre que atingir </a:t>
            </a:r>
            <a:r>
              <a:rPr lang="pt-BR" sz="16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14 pontos </a:t>
            </a:r>
            <a:r>
              <a:rPr lang="pt-BR" sz="16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no período de 1 ano. </a:t>
            </a:r>
            <a:r>
              <a:rPr lang="pt-BR" sz="10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(CTB </a:t>
            </a:r>
            <a:r>
              <a:rPr lang="pt-BR" sz="10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261 § </a:t>
            </a:r>
            <a:r>
              <a:rPr lang="pt-BR" sz="10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5º)</a:t>
            </a:r>
            <a:endParaRPr lang="pt-BR" sz="10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73" y="1898252"/>
            <a:ext cx="3037710" cy="204165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5333172" cy="484816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107504" y="577298"/>
            <a:ext cx="52218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Frequência em Curso de Reciclagem </a:t>
            </a:r>
            <a:r>
              <a:rPr lang="pt-BR" sz="1000" b="1" dirty="0" smtClean="0"/>
              <a:t>(CTB art. 268)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07597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de cantos arredondados 7"/>
          <p:cNvSpPr/>
          <p:nvPr/>
        </p:nvSpPr>
        <p:spPr>
          <a:xfrm>
            <a:off x="354165" y="3143254"/>
            <a:ext cx="4643470" cy="428628"/>
          </a:xfrm>
          <a:prstGeom prst="round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À critério do Agente, os veículos:</a:t>
            </a:r>
            <a:endParaRPr lang="pt-BR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357158" y="3576529"/>
            <a:ext cx="4643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►Com carga </a:t>
            </a:r>
            <a:r>
              <a:rPr lang="pt-BR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Perigosa</a:t>
            </a:r>
            <a:r>
              <a:rPr lang="pt-BR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 ou </a:t>
            </a:r>
            <a:r>
              <a:rPr lang="pt-BR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Perecível</a:t>
            </a:r>
          </a:p>
          <a:p>
            <a:pPr>
              <a:lnSpc>
                <a:spcPct val="150000"/>
              </a:lnSpc>
            </a:pPr>
            <a:r>
              <a:rPr lang="pt-BR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►De transporte </a:t>
            </a:r>
            <a:r>
              <a:rPr lang="pt-BR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Coletivo</a:t>
            </a:r>
            <a:r>
              <a:rPr lang="pt-BR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 de passageiros</a:t>
            </a:r>
            <a:endParaRPr lang="pt-BR" i="1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Seta para a direita 10"/>
          <p:cNvSpPr/>
          <p:nvPr/>
        </p:nvSpPr>
        <p:spPr>
          <a:xfrm>
            <a:off x="4357686" y="3725391"/>
            <a:ext cx="642942" cy="785818"/>
          </a:xfrm>
          <a:prstGeom prst="rightArrow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5137518" y="3786196"/>
            <a:ext cx="3000396" cy="642942"/>
          </a:xfrm>
          <a:prstGeom prst="roundRect">
            <a:avLst/>
          </a:prstGeom>
          <a:solidFill>
            <a:srgbClr val="0066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NÃO serão Retidos</a:t>
            </a:r>
            <a:endParaRPr lang="pt-BR" b="1" i="1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4" name="Imagem 13" descr="RETIDO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1131590"/>
            <a:ext cx="2308127" cy="15841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Retângulo de cantos arredondados 14"/>
          <p:cNvSpPr/>
          <p:nvPr/>
        </p:nvSpPr>
        <p:spPr>
          <a:xfrm>
            <a:off x="2675900" y="1280736"/>
            <a:ext cx="6215106" cy="1285884"/>
          </a:xfrm>
          <a:prstGeom prst="roundRect">
            <a:avLst>
              <a:gd name="adj" fmla="val 533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2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...</a:t>
            </a:r>
            <a:r>
              <a:rPr lang="pt-BR" sz="20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manter o veículo no local da abordagem</a:t>
            </a:r>
            <a:r>
              <a:rPr lang="pt-BR" sz="2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até que a irregularidade possa ser sanada ou liberá-lo para reparo mediante recolhimento do CRLV.</a:t>
            </a:r>
            <a:endParaRPr lang="pt-BR" sz="20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Retenção de Veículo </a:t>
            </a:r>
            <a:r>
              <a:rPr lang="pt-BR" sz="1000" b="1" dirty="0" smtClean="0"/>
              <a:t>(CTB art. 270)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70743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GUINCHO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1142990"/>
            <a:ext cx="1285884" cy="1165111"/>
          </a:xfrm>
          <a:prstGeom prst="rect">
            <a:avLst/>
          </a:prstGeom>
        </p:spPr>
      </p:pic>
      <p:sp>
        <p:nvSpPr>
          <p:cNvPr id="11" name="Retângulo de cantos arredondados 10"/>
          <p:cNvSpPr/>
          <p:nvPr/>
        </p:nvSpPr>
        <p:spPr>
          <a:xfrm>
            <a:off x="2071670" y="1214428"/>
            <a:ext cx="6286544" cy="107157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...retirar (guinchar) o veículo do local onde se encontra, levando-o para o depósito credenciado.</a:t>
            </a:r>
            <a:endParaRPr lang="pt-BR" sz="2000" b="1" i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285720" y="2571751"/>
            <a:ext cx="6643734" cy="35719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 Remoção ocorrerá:</a:t>
            </a:r>
            <a:endParaRPr lang="pt-BR" sz="20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285720" y="2968480"/>
            <a:ext cx="6643734" cy="889155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endParaRPr lang="pt-BR" sz="2000" b="1" i="1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5" name="Imagem 14" descr="proibido_estacionar_03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72330" y="2571750"/>
            <a:ext cx="1428760" cy="1285885"/>
          </a:xfrm>
          <a:prstGeom prst="rect">
            <a:avLst/>
          </a:prstGeom>
        </p:spPr>
      </p:pic>
      <p:sp>
        <p:nvSpPr>
          <p:cNvPr id="16" name="Seta para a direita 15"/>
          <p:cNvSpPr/>
          <p:nvPr/>
        </p:nvSpPr>
        <p:spPr>
          <a:xfrm>
            <a:off x="285720" y="4214824"/>
            <a:ext cx="1000132" cy="571504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 smtClean="0">
                <a:latin typeface="Calibri" pitchFamily="34" charset="0"/>
                <a:cs typeface="Calibri" pitchFamily="34" charset="0"/>
              </a:rPr>
              <a:t>Atenção</a:t>
            </a:r>
            <a:endParaRPr lang="pt-BR" sz="15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1500166" y="4286262"/>
            <a:ext cx="5857916" cy="428628"/>
          </a:xfrm>
          <a:prstGeom prst="rect">
            <a:avLst/>
          </a:prstGeom>
          <a:solidFill>
            <a:srgbClr val="FFFF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Não se aplica a veículo estacionado na </a:t>
            </a:r>
            <a:r>
              <a:rPr lang="pt-BR" sz="2000" b="1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contramão</a:t>
            </a:r>
            <a:endParaRPr lang="pt-BR" sz="2000" b="1" i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285720" y="2996990"/>
            <a:ext cx="6643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►Quando estiver Estacionado em desacordo com a legislação</a:t>
            </a:r>
          </a:p>
          <a:p>
            <a:r>
              <a:rPr lang="pt-BR" sz="16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►Quando o veículo estiver imobilizado na via por falta de combustível</a:t>
            </a:r>
          </a:p>
          <a:p>
            <a:r>
              <a:rPr lang="pt-BR" sz="16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►Quando a irregularidade não puder ser sanada</a:t>
            </a:r>
            <a:endParaRPr lang="pt-BR" sz="1600" b="1" i="1" dirty="0">
              <a:solidFill>
                <a:srgbClr val="0066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19" name="CaixaDeTexto 18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Remoção de Veículo </a:t>
            </a:r>
            <a:r>
              <a:rPr lang="pt-BR" sz="1000" b="1" dirty="0" smtClean="0"/>
              <a:t>(CTB art. 271)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125849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/>
          <p:nvPr/>
        </p:nvSpPr>
        <p:spPr>
          <a:xfrm>
            <a:off x="6469499" y="1338839"/>
            <a:ext cx="2428892" cy="285752"/>
          </a:xfrm>
          <a:prstGeom prst="rect">
            <a:avLst/>
          </a:prstGeom>
          <a:solidFill>
            <a:srgbClr val="7030A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Art. 328 CTB e Res. 623/16 Contran</a:t>
            </a:r>
            <a:endParaRPr lang="pt-BR" sz="1200" b="1" dirty="0">
              <a:solidFill>
                <a:srgbClr val="7030A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250166" y="1338839"/>
            <a:ext cx="2428892" cy="285752"/>
          </a:xfrm>
          <a:prstGeom prst="rect">
            <a:avLst/>
          </a:prstGeom>
          <a:solidFill>
            <a:srgbClr val="7030A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Art. 271 CTB e Res. 623/16 Contran</a:t>
            </a:r>
            <a:endParaRPr lang="pt-BR" sz="1200" b="1" dirty="0">
              <a:solidFill>
                <a:srgbClr val="7030A0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2" name="Grupo 21"/>
          <p:cNvGrpSpPr/>
          <p:nvPr/>
        </p:nvGrpSpPr>
        <p:grpSpPr>
          <a:xfrm>
            <a:off x="250166" y="1682403"/>
            <a:ext cx="2428892" cy="1785950"/>
            <a:chOff x="214282" y="1857370"/>
            <a:chExt cx="2428892" cy="1785950"/>
          </a:xfrm>
        </p:grpSpPr>
        <p:pic>
          <p:nvPicPr>
            <p:cNvPr id="19" name="Imagem 18" descr="carro preso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0034" y="1928808"/>
              <a:ext cx="1600207" cy="1285884"/>
            </a:xfrm>
            <a:prstGeom prst="rect">
              <a:avLst/>
            </a:prstGeom>
          </p:spPr>
        </p:pic>
        <p:sp>
          <p:nvSpPr>
            <p:cNvPr id="20" name="Retângulo 19"/>
            <p:cNvSpPr/>
            <p:nvPr/>
          </p:nvSpPr>
          <p:spPr>
            <a:xfrm>
              <a:off x="214282" y="3357568"/>
              <a:ext cx="2428892" cy="285752"/>
            </a:xfrm>
            <a:prstGeom prst="rect">
              <a:avLst/>
            </a:prstGeom>
            <a:solidFill>
              <a:srgbClr val="C00000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b="1" i="1" dirty="0" smtClean="0">
                  <a:solidFill>
                    <a:srgbClr val="C00000"/>
                  </a:solidFill>
                  <a:latin typeface="Calibri" pitchFamily="34" charset="0"/>
                  <a:cs typeface="Calibri" pitchFamily="34" charset="0"/>
                </a:rPr>
                <a:t>Recolhido a depósito</a:t>
              </a:r>
              <a:endParaRPr lang="pt-BR" sz="1500" b="1" i="1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1" name="Retângulo 20"/>
            <p:cNvSpPr/>
            <p:nvPr/>
          </p:nvSpPr>
          <p:spPr>
            <a:xfrm>
              <a:off x="214282" y="1857370"/>
              <a:ext cx="2428892" cy="178595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6469499" y="1696029"/>
            <a:ext cx="2428892" cy="1785950"/>
            <a:chOff x="5500694" y="2928940"/>
            <a:chExt cx="2428892" cy="1785950"/>
          </a:xfrm>
        </p:grpSpPr>
        <p:pic>
          <p:nvPicPr>
            <p:cNvPr id="10" name="Imagem 9" descr="LEILAO.jpe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28634" y="3018651"/>
              <a:ext cx="2035209" cy="1357322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grpSp>
          <p:nvGrpSpPr>
            <p:cNvPr id="27" name="Grupo 26"/>
            <p:cNvGrpSpPr/>
            <p:nvPr/>
          </p:nvGrpSpPr>
          <p:grpSpPr>
            <a:xfrm>
              <a:off x="5500694" y="2928940"/>
              <a:ext cx="2428892" cy="1785950"/>
              <a:chOff x="214282" y="1857370"/>
              <a:chExt cx="2428892" cy="1785950"/>
            </a:xfrm>
          </p:grpSpPr>
          <p:sp>
            <p:nvSpPr>
              <p:cNvPr id="29" name="Retângulo 28"/>
              <p:cNvSpPr/>
              <p:nvPr/>
            </p:nvSpPr>
            <p:spPr>
              <a:xfrm>
                <a:off x="214282" y="3357568"/>
                <a:ext cx="2428892" cy="285752"/>
              </a:xfrm>
              <a:prstGeom prst="rect">
                <a:avLst/>
              </a:prstGeom>
              <a:solidFill>
                <a:srgbClr val="C00000">
                  <a:alpha val="3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500" b="1" i="1" dirty="0" smtClean="0">
                    <a:solidFill>
                      <a:srgbClr val="C00000"/>
                    </a:solidFill>
                    <a:latin typeface="Calibri" pitchFamily="34" charset="0"/>
                    <a:cs typeface="Calibri" pitchFamily="34" charset="0"/>
                  </a:rPr>
                  <a:t>Hasta Pública – Após 60 dias</a:t>
                </a:r>
                <a:endParaRPr lang="pt-BR" sz="1500" b="1" i="1" dirty="0">
                  <a:solidFill>
                    <a:srgbClr val="C00000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30" name="Retângulo 29"/>
              <p:cNvSpPr/>
              <p:nvPr/>
            </p:nvSpPr>
            <p:spPr>
              <a:xfrm>
                <a:off x="214282" y="1857370"/>
                <a:ext cx="2428892" cy="178595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</p:grpSp>
      <p:grpSp>
        <p:nvGrpSpPr>
          <p:cNvPr id="36" name="Grupo 35"/>
          <p:cNvGrpSpPr/>
          <p:nvPr/>
        </p:nvGrpSpPr>
        <p:grpSpPr>
          <a:xfrm>
            <a:off x="3314687" y="1704099"/>
            <a:ext cx="2428892" cy="1772324"/>
            <a:chOff x="3143240" y="1571618"/>
            <a:chExt cx="2428892" cy="1428760"/>
          </a:xfrm>
        </p:grpSpPr>
        <p:grpSp>
          <p:nvGrpSpPr>
            <p:cNvPr id="23" name="Grupo 22"/>
            <p:cNvGrpSpPr/>
            <p:nvPr/>
          </p:nvGrpSpPr>
          <p:grpSpPr>
            <a:xfrm>
              <a:off x="3143240" y="1571618"/>
              <a:ext cx="2428892" cy="1428760"/>
              <a:chOff x="214282" y="1857370"/>
              <a:chExt cx="2428892" cy="1785950"/>
            </a:xfrm>
          </p:grpSpPr>
          <p:sp>
            <p:nvSpPr>
              <p:cNvPr id="25" name="Retângulo 24"/>
              <p:cNvSpPr/>
              <p:nvPr/>
            </p:nvSpPr>
            <p:spPr>
              <a:xfrm>
                <a:off x="214282" y="3357568"/>
                <a:ext cx="2428892" cy="285752"/>
              </a:xfrm>
              <a:prstGeom prst="rect">
                <a:avLst/>
              </a:prstGeom>
              <a:solidFill>
                <a:srgbClr val="C00000">
                  <a:alpha val="3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500" b="1" i="1" dirty="0" smtClean="0">
                    <a:solidFill>
                      <a:srgbClr val="C00000"/>
                    </a:solidFill>
                    <a:latin typeface="Calibri" pitchFamily="34" charset="0"/>
                    <a:cs typeface="Calibri" pitchFamily="34" charset="0"/>
                  </a:rPr>
                  <a:t>Ônus ao Proprietário</a:t>
                </a:r>
                <a:endParaRPr lang="pt-BR" sz="1500" b="1" i="1" dirty="0">
                  <a:solidFill>
                    <a:srgbClr val="C00000"/>
                  </a:solidFill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26" name="Retângulo 25"/>
              <p:cNvSpPr/>
              <p:nvPr/>
            </p:nvSpPr>
            <p:spPr>
              <a:xfrm>
                <a:off x="214282" y="1857370"/>
                <a:ext cx="2428892" cy="178595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pic>
          <p:nvPicPr>
            <p:cNvPr id="35" name="Imagem 34" descr="Cifrão - ônus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57620" y="1714494"/>
              <a:ext cx="928688" cy="928694"/>
            </a:xfrm>
            <a:prstGeom prst="rect">
              <a:avLst/>
            </a:prstGeom>
          </p:spPr>
        </p:pic>
      </p:grpSp>
      <p:sp>
        <p:nvSpPr>
          <p:cNvPr id="24" name="Retângulo 23"/>
          <p:cNvSpPr/>
          <p:nvPr/>
        </p:nvSpPr>
        <p:spPr>
          <a:xfrm>
            <a:off x="3321835" y="1357304"/>
            <a:ext cx="2428892" cy="285752"/>
          </a:xfrm>
          <a:prstGeom prst="rect">
            <a:avLst/>
          </a:prstGeom>
          <a:solidFill>
            <a:srgbClr val="7030A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Art. 271 CTB e Res. 623/16 Contran</a:t>
            </a:r>
            <a:endParaRPr lang="pt-BR" sz="1200" b="1" dirty="0">
              <a:solidFill>
                <a:srgbClr val="7030A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3786182" y="4000510"/>
            <a:ext cx="5178306" cy="857256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NÃO existe mais de APREENSÃO do veículo.</a:t>
            </a:r>
          </a:p>
        </p:txBody>
      </p:sp>
      <p:pic>
        <p:nvPicPr>
          <p:cNvPr id="28" name="Imagem 27" descr="ATENÇÃOQ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5720" y="3929072"/>
            <a:ext cx="2261672" cy="971391"/>
          </a:xfrm>
          <a:prstGeom prst="rect">
            <a:avLst/>
          </a:prstGeom>
        </p:spPr>
      </p:pic>
      <p:sp>
        <p:nvSpPr>
          <p:cNvPr id="32" name="Divisa 31"/>
          <p:cNvSpPr/>
          <p:nvPr/>
        </p:nvSpPr>
        <p:spPr>
          <a:xfrm>
            <a:off x="2714612" y="4214824"/>
            <a:ext cx="285752" cy="428628"/>
          </a:xfrm>
          <a:prstGeom prst="chevr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Divisa 32"/>
          <p:cNvSpPr/>
          <p:nvPr/>
        </p:nvSpPr>
        <p:spPr>
          <a:xfrm>
            <a:off x="3000364" y="4214824"/>
            <a:ext cx="285752" cy="428628"/>
          </a:xfrm>
          <a:prstGeom prst="chevr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Divisa 33"/>
          <p:cNvSpPr/>
          <p:nvPr/>
        </p:nvSpPr>
        <p:spPr>
          <a:xfrm>
            <a:off x="3286116" y="4214824"/>
            <a:ext cx="285752" cy="428628"/>
          </a:xfrm>
          <a:prstGeom prst="chevron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7" name="Imagem 36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38" name="CaixaDeTexto 37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Remoção de Veículo </a:t>
            </a:r>
            <a:r>
              <a:rPr lang="pt-BR" sz="1000" b="1" dirty="0" smtClean="0"/>
              <a:t>(CTB art. 271)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15908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2" grpId="0" animBg="1"/>
      <p:bldP spid="33" grpId="0" animBg="1"/>
      <p:bldP spid="3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357158" y="1357304"/>
            <a:ext cx="6357982" cy="714380"/>
          </a:xfrm>
          <a:prstGeom prst="roundRect">
            <a:avLst>
              <a:gd name="adj" fmla="val 924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...o recolhimento dar-se-á, mediante recibo, quando:</a:t>
            </a:r>
            <a:endParaRPr lang="pt-BR" sz="2000" b="1" i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2339752" y="2668497"/>
            <a:ext cx="6661404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►Houver suspeita de inautenticidade ou adulteração</a:t>
            </a:r>
          </a:p>
          <a:p>
            <a:pPr>
              <a:lnSpc>
                <a:spcPct val="150000"/>
              </a:lnSpc>
            </a:pP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►Estiver </a:t>
            </a:r>
            <a:r>
              <a:rPr lang="pt-BR" b="1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vencida a mais de 30 </a:t>
            </a: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dias</a:t>
            </a:r>
          </a:p>
          <a:p>
            <a:pPr>
              <a:lnSpc>
                <a:spcPct val="150000"/>
              </a:lnSpc>
            </a:pP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►Ocorrer algumas infrações com fator agravante</a:t>
            </a:r>
          </a:p>
          <a:p>
            <a:pPr>
              <a:lnSpc>
                <a:spcPct val="150000"/>
              </a:lnSpc>
            </a:pP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►Em situações de Suspensão do Direito de Dirigir (com exceções)</a:t>
            </a:r>
          </a:p>
          <a:p>
            <a:pPr>
              <a:lnSpc>
                <a:spcPct val="150000"/>
              </a:lnSpc>
            </a:pP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►Outros casos previstos pelo CTB</a:t>
            </a:r>
            <a:endParaRPr lang="pt-BR" b="1" i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4" name="Imagem 13" descr="cnh recolhida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66874" y="1142990"/>
            <a:ext cx="2034282" cy="1643074"/>
          </a:xfrm>
          <a:prstGeom prst="rect">
            <a:avLst/>
          </a:prstGeom>
        </p:spPr>
      </p:pic>
      <p:pic>
        <p:nvPicPr>
          <p:cNvPr id="10" name="Imagem 9" descr="ANOTAR B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282" y="2264780"/>
            <a:ext cx="1928826" cy="2561761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Recolhimento da Habilitação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154725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de cantos arredondados 13"/>
          <p:cNvSpPr/>
          <p:nvPr/>
        </p:nvSpPr>
        <p:spPr>
          <a:xfrm>
            <a:off x="186493" y="1335595"/>
            <a:ext cx="5365260" cy="928694"/>
          </a:xfrm>
          <a:prstGeom prst="roundRect">
            <a:avLst>
              <a:gd name="adj" fmla="val 8105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...o recolhimento da documentação do veículo (CRV / CRLA) dar-se-á, mediante recibo, quando:</a:t>
            </a:r>
            <a:endParaRPr lang="pt-BR" sz="2000" b="1" i="1" dirty="0">
              <a:solidFill>
                <a:srgbClr val="008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1979712" y="2643188"/>
            <a:ext cx="688689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i="1" dirty="0" smtClean="0">
                <a:latin typeface="Calibri" pitchFamily="34" charset="0"/>
                <a:cs typeface="Calibri" pitchFamily="34" charset="0"/>
              </a:rPr>
              <a:t>►Houver suspeita de inautenticidade ou adulteração</a:t>
            </a:r>
          </a:p>
          <a:p>
            <a:pPr>
              <a:lnSpc>
                <a:spcPct val="150000"/>
              </a:lnSpc>
            </a:pPr>
            <a:r>
              <a:rPr lang="pt-BR" b="1" i="1" dirty="0" smtClean="0">
                <a:latin typeface="Calibri" pitchFamily="34" charset="0"/>
                <a:cs typeface="Calibri" pitchFamily="34" charset="0"/>
              </a:rPr>
              <a:t>►Alienado </a:t>
            </a:r>
            <a:r>
              <a:rPr lang="pt-BR" b="1" i="1" dirty="0">
                <a:latin typeface="Calibri" pitchFamily="34" charset="0"/>
                <a:cs typeface="Calibri" pitchFamily="34" charset="0"/>
              </a:rPr>
              <a:t>o veículo, não for transferida a propriedade em 30 </a:t>
            </a:r>
            <a:r>
              <a:rPr lang="pt-BR" b="1" i="1" dirty="0" smtClean="0">
                <a:latin typeface="Calibri" pitchFamily="34" charset="0"/>
                <a:cs typeface="Calibri" pitchFamily="34" charset="0"/>
              </a:rPr>
              <a:t>dias</a:t>
            </a:r>
          </a:p>
          <a:p>
            <a:pPr>
              <a:lnSpc>
                <a:spcPct val="150000"/>
              </a:lnSpc>
            </a:pPr>
            <a:r>
              <a:rPr lang="pt-BR" b="1" i="1" dirty="0" smtClean="0">
                <a:latin typeface="Calibri" pitchFamily="34" charset="0"/>
                <a:cs typeface="Calibri" pitchFamily="34" charset="0"/>
              </a:rPr>
              <a:t>►A irregularidade não puder ser sanada no local</a:t>
            </a:r>
          </a:p>
          <a:p>
            <a:pPr>
              <a:lnSpc>
                <a:spcPct val="150000"/>
              </a:lnSpc>
            </a:pPr>
            <a:r>
              <a:rPr lang="pt-BR" b="1" i="1" dirty="0" smtClean="0">
                <a:latin typeface="Calibri" pitchFamily="34" charset="0"/>
                <a:cs typeface="Calibri" pitchFamily="34" charset="0"/>
              </a:rPr>
              <a:t>►O </a:t>
            </a:r>
            <a:r>
              <a:rPr lang="pt-BR" b="1" i="1" dirty="0">
                <a:latin typeface="Calibri" pitchFamily="34" charset="0"/>
                <a:cs typeface="Calibri" pitchFamily="34" charset="0"/>
              </a:rPr>
              <a:t>prazo de Licenciamento </a:t>
            </a:r>
            <a:r>
              <a:rPr lang="pt-BR" b="1" i="1" dirty="0" smtClean="0">
                <a:latin typeface="Calibri" pitchFamily="34" charset="0"/>
                <a:cs typeface="Calibri" pitchFamily="34" charset="0"/>
              </a:rPr>
              <a:t>(CLA) estiver vencido</a:t>
            </a:r>
          </a:p>
          <a:p>
            <a:pPr>
              <a:lnSpc>
                <a:spcPct val="150000"/>
              </a:lnSpc>
            </a:pPr>
            <a:r>
              <a:rPr lang="pt-BR" b="1" i="1" dirty="0" smtClean="0">
                <a:latin typeface="Calibri" pitchFamily="34" charset="0"/>
                <a:cs typeface="Calibri" pitchFamily="34" charset="0"/>
              </a:rPr>
              <a:t>►Outros casos previstos pelo CTB</a:t>
            </a:r>
            <a:endParaRPr lang="pt-BR" b="1" i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Imagem 5" descr="ANOTAR B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4282" y="2643188"/>
            <a:ext cx="1667422" cy="2214578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Recolhimento do CRV / CLA</a:t>
            </a:r>
            <a:endParaRPr lang="pt-BR" sz="1000" b="1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699542"/>
            <a:ext cx="3070474" cy="16342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2248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3500430" y="1203598"/>
            <a:ext cx="5429288" cy="1582466"/>
          </a:xfrm>
          <a:prstGeom prst="roundRect">
            <a:avLst>
              <a:gd name="adj" fmla="val 460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20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...serão recolhidos a depósito </a:t>
            </a:r>
            <a:r>
              <a:rPr lang="pt-BR" sz="20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quando estiverem soltos na via pública e desacompanhados de seu guia, prejudicando a fluidez do trânsito ou proporcionando risco à segurança.</a:t>
            </a:r>
            <a:endParaRPr lang="pt-BR" sz="2000" i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17" name="Grupo 16"/>
          <p:cNvGrpSpPr/>
          <p:nvPr/>
        </p:nvGrpSpPr>
        <p:grpSpPr>
          <a:xfrm>
            <a:off x="142844" y="3000378"/>
            <a:ext cx="8786874" cy="785818"/>
            <a:chOff x="142844" y="3071816"/>
            <a:chExt cx="8501122" cy="785818"/>
          </a:xfrm>
        </p:grpSpPr>
        <p:sp>
          <p:nvSpPr>
            <p:cNvPr id="13" name="Seta para a direita 12"/>
            <p:cNvSpPr/>
            <p:nvPr/>
          </p:nvSpPr>
          <p:spPr>
            <a:xfrm>
              <a:off x="142844" y="3143254"/>
              <a:ext cx="500066" cy="642942"/>
            </a:xfrm>
            <a:prstGeom prst="rightArrow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714348" y="3071816"/>
              <a:ext cx="7929618" cy="7858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b="1" i="1" dirty="0" smtClean="0">
                  <a:solidFill>
                    <a:schemeClr val="tx2"/>
                  </a:solidFill>
                  <a:latin typeface="Calibri" pitchFamily="34" charset="0"/>
                  <a:cs typeface="Calibri" pitchFamily="34" charset="0"/>
                </a:rPr>
                <a:t>A restituição só ocorrerá mediante o pagamento </a:t>
              </a:r>
              <a:r>
                <a:rPr lang="pt-BR" i="1" dirty="0" smtClean="0">
                  <a:solidFill>
                    <a:schemeClr val="tx2"/>
                  </a:solidFill>
                  <a:latin typeface="Calibri" pitchFamily="34" charset="0"/>
                  <a:cs typeface="Calibri" pitchFamily="34" charset="0"/>
                </a:rPr>
                <a:t>das multas, taxas e despesas com remoção e estada, além de outros encargos previstos na legislação específica.</a:t>
              </a:r>
              <a:endParaRPr lang="pt-BR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142844" y="4000510"/>
            <a:ext cx="8786874" cy="785818"/>
            <a:chOff x="142844" y="4000510"/>
            <a:chExt cx="8501122" cy="785818"/>
          </a:xfrm>
        </p:grpSpPr>
        <p:sp>
          <p:nvSpPr>
            <p:cNvPr id="15" name="Seta para a direita 14"/>
            <p:cNvSpPr/>
            <p:nvPr/>
          </p:nvSpPr>
          <p:spPr>
            <a:xfrm>
              <a:off x="142844" y="4071948"/>
              <a:ext cx="500066" cy="642942"/>
            </a:xfrm>
            <a:prstGeom prst="rightArrow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6" name="Retângulo 15"/>
            <p:cNvSpPr/>
            <p:nvPr/>
          </p:nvSpPr>
          <p:spPr>
            <a:xfrm>
              <a:off x="714348" y="4000510"/>
              <a:ext cx="7929618" cy="7858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i="1" dirty="0" smtClean="0">
                  <a:solidFill>
                    <a:schemeClr val="tx2"/>
                  </a:solidFill>
                  <a:latin typeface="Calibri" pitchFamily="34" charset="0"/>
                  <a:cs typeface="Calibri" pitchFamily="34" charset="0"/>
                </a:rPr>
                <a:t>Os animais não reclamados por seus proprietários, dentro do prazo de </a:t>
              </a:r>
            </a:p>
            <a:p>
              <a:r>
                <a:rPr lang="pt-BR" b="1" i="1" u="sng" dirty="0" smtClean="0">
                  <a:solidFill>
                    <a:schemeClr val="tx2"/>
                  </a:solidFill>
                  <a:latin typeface="Calibri" pitchFamily="34" charset="0"/>
                  <a:cs typeface="Calibri" pitchFamily="34" charset="0"/>
                </a:rPr>
                <a:t>60 dias</a:t>
              </a:r>
              <a:r>
                <a:rPr lang="pt-BR" i="1" dirty="0" smtClean="0">
                  <a:solidFill>
                    <a:schemeClr val="tx2"/>
                  </a:solidFill>
                  <a:latin typeface="Calibri" pitchFamily="34" charset="0"/>
                  <a:cs typeface="Calibri" pitchFamily="34" charset="0"/>
                </a:rPr>
                <a:t>, </a:t>
              </a:r>
              <a:r>
                <a:rPr lang="pt-BR" b="1" i="1" dirty="0" smtClean="0">
                  <a:solidFill>
                    <a:schemeClr val="tx2"/>
                  </a:solidFill>
                  <a:latin typeface="Calibri" pitchFamily="34" charset="0"/>
                  <a:cs typeface="Calibri" pitchFamily="34" charset="0"/>
                </a:rPr>
                <a:t>serão levados à hasta pública</a:t>
              </a:r>
              <a:r>
                <a:rPr lang="pt-BR" i="1" dirty="0" smtClean="0">
                  <a:solidFill>
                    <a:schemeClr val="tx2"/>
                  </a:solidFill>
                  <a:latin typeface="Calibri" pitchFamily="34" charset="0"/>
                  <a:cs typeface="Calibri" pitchFamily="34" charset="0"/>
                </a:rPr>
                <a:t>...</a:t>
              </a:r>
              <a:endParaRPr lang="pt-BR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104406"/>
            <a:ext cx="3240360" cy="18240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19" name="CaixaDeTexto 18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Recolhimento de Animais </a:t>
            </a:r>
            <a:r>
              <a:rPr lang="pt-BR" sz="1000" b="1" dirty="0" smtClean="0"/>
              <a:t>(CTB art. 269 §4º)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260407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2865335" y="1563638"/>
            <a:ext cx="6072230" cy="1143008"/>
          </a:xfrm>
          <a:prstGeom prst="roundRect">
            <a:avLst>
              <a:gd name="adj" fmla="val 391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pt-BR" sz="2000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Consiste em </a:t>
            </a:r>
            <a:r>
              <a:rPr lang="pt-BR" sz="2000" b="1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passar o excesso da carga para outro veículo</a:t>
            </a:r>
            <a:r>
              <a:rPr lang="pt-BR" sz="2000" i="1" dirty="0" smtClean="0">
                <a:solidFill>
                  <a:srgbClr val="008000"/>
                </a:solidFill>
                <a:latin typeface="Calibri" pitchFamily="34" charset="0"/>
                <a:cs typeface="Calibri" pitchFamily="34" charset="0"/>
              </a:rPr>
              <a:t>, já munido da nota fiscal do excesso.</a:t>
            </a:r>
            <a:endParaRPr lang="pt-BR" sz="2000" i="1" dirty="0">
              <a:solidFill>
                <a:srgbClr val="008000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17" name="Grupo 16"/>
          <p:cNvGrpSpPr/>
          <p:nvPr/>
        </p:nvGrpSpPr>
        <p:grpSpPr>
          <a:xfrm>
            <a:off x="142844" y="2986752"/>
            <a:ext cx="8786874" cy="785818"/>
            <a:chOff x="142844" y="2986752"/>
            <a:chExt cx="8501122" cy="785818"/>
          </a:xfrm>
        </p:grpSpPr>
        <p:sp>
          <p:nvSpPr>
            <p:cNvPr id="13" name="Seta para a direita 12"/>
            <p:cNvSpPr/>
            <p:nvPr/>
          </p:nvSpPr>
          <p:spPr>
            <a:xfrm>
              <a:off x="142844" y="3058190"/>
              <a:ext cx="500066" cy="642942"/>
            </a:xfrm>
            <a:prstGeom prst="rightArrow">
              <a:avLst/>
            </a:prstGeom>
            <a:solidFill>
              <a:srgbClr val="00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714348" y="2986752"/>
              <a:ext cx="7929618" cy="7858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900" i="1" dirty="0" smtClean="0">
                  <a:solidFill>
                    <a:srgbClr val="006600"/>
                  </a:solidFill>
                  <a:latin typeface="Calibri" pitchFamily="34" charset="0"/>
                  <a:cs typeface="Calibri" pitchFamily="34" charset="0"/>
                </a:rPr>
                <a:t>O transbordo da carga com peso excedente é </a:t>
              </a:r>
            </a:p>
            <a:p>
              <a:r>
                <a:rPr lang="pt-BR" sz="1900" b="1" i="1" dirty="0" smtClean="0">
                  <a:solidFill>
                    <a:srgbClr val="006600"/>
                  </a:solidFill>
                  <a:latin typeface="Calibri" pitchFamily="34" charset="0"/>
                  <a:cs typeface="Calibri" pitchFamily="34" charset="0"/>
                </a:rPr>
                <a:t>condição para que o veículo possa prosseguir viagem...</a:t>
              </a:r>
              <a:endParaRPr lang="pt-BR" sz="1900" b="1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142844" y="3947345"/>
            <a:ext cx="8786874" cy="785818"/>
            <a:chOff x="142844" y="3947345"/>
            <a:chExt cx="8501122" cy="785818"/>
          </a:xfrm>
        </p:grpSpPr>
        <p:sp>
          <p:nvSpPr>
            <p:cNvPr id="15" name="Seta para a direita 14"/>
            <p:cNvSpPr/>
            <p:nvPr/>
          </p:nvSpPr>
          <p:spPr>
            <a:xfrm>
              <a:off x="142844" y="4018783"/>
              <a:ext cx="500066" cy="642942"/>
            </a:xfrm>
            <a:prstGeom prst="rightArrow">
              <a:avLst/>
            </a:prstGeom>
            <a:solidFill>
              <a:srgbClr val="00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6" name="Retângulo 15"/>
            <p:cNvSpPr/>
            <p:nvPr/>
          </p:nvSpPr>
          <p:spPr>
            <a:xfrm>
              <a:off x="714348" y="3947345"/>
              <a:ext cx="7929618" cy="7858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900" i="1" dirty="0" smtClean="0">
                  <a:solidFill>
                    <a:srgbClr val="006600"/>
                  </a:solidFill>
                  <a:latin typeface="Calibri" pitchFamily="34" charset="0"/>
                  <a:cs typeface="Calibri" pitchFamily="34" charset="0"/>
                </a:rPr>
                <a:t>Não sendo possível o transbordo, </a:t>
              </a:r>
              <a:r>
                <a:rPr lang="pt-BR" sz="1900" b="1" i="1" dirty="0" smtClean="0">
                  <a:solidFill>
                    <a:srgbClr val="006600"/>
                  </a:solidFill>
                  <a:latin typeface="Calibri" pitchFamily="34" charset="0"/>
                  <a:cs typeface="Calibri" pitchFamily="34" charset="0"/>
                </a:rPr>
                <a:t>o veículo será recolhido ao depósito</a:t>
              </a:r>
              <a:r>
                <a:rPr lang="pt-BR" sz="1900" i="1" dirty="0" smtClean="0">
                  <a:solidFill>
                    <a:srgbClr val="006600"/>
                  </a:solidFill>
                  <a:latin typeface="Calibri" pitchFamily="34" charset="0"/>
                  <a:cs typeface="Calibri" pitchFamily="34" charset="0"/>
                </a:rPr>
                <a:t>, sendo liberado após sanada a irregularidade e pagas as despesas de remoção e estada.</a:t>
              </a:r>
              <a:endParaRPr lang="pt-BR" sz="1900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98"/>
          <a:stretch/>
        </p:blipFill>
        <p:spPr>
          <a:xfrm>
            <a:off x="142844" y="1150001"/>
            <a:ext cx="2608020" cy="18367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Imagem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19" name="CaixaDeTexto 18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Transbordo do Excesso de Carga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425429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de cantos arredondados 10"/>
          <p:cNvSpPr/>
          <p:nvPr/>
        </p:nvSpPr>
        <p:spPr>
          <a:xfrm>
            <a:off x="3059832" y="1203598"/>
            <a:ext cx="5725300" cy="1584176"/>
          </a:xfrm>
          <a:prstGeom prst="roundRect">
            <a:avLst>
              <a:gd name="adj" fmla="val 378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20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...consiste em submeter o condutor a </a:t>
            </a:r>
            <a:r>
              <a:rPr lang="pt-BR" sz="20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exames que comprovem a sua sanidade</a:t>
            </a:r>
            <a:r>
              <a:rPr lang="pt-BR" sz="20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quanto a substâncias alcoólicas ou psicoativas. Poderá ocorrer das seguintes formas:</a:t>
            </a:r>
            <a:endParaRPr lang="pt-BR" sz="2000" i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142844" y="2931790"/>
            <a:ext cx="7453492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►Exame de sangue</a:t>
            </a:r>
          </a:p>
          <a:p>
            <a:pPr>
              <a:spcAft>
                <a:spcPts val="600"/>
              </a:spcAft>
            </a:pPr>
            <a:r>
              <a:rPr lang="pt-BR" b="1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</a:t>
            </a: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Outros exames realizados por laboratórios especializados</a:t>
            </a:r>
          </a:p>
          <a:p>
            <a:pPr>
              <a:spcAft>
                <a:spcPts val="600"/>
              </a:spcAft>
            </a:pPr>
            <a:r>
              <a:rPr lang="pt-BR" b="1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</a:t>
            </a: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Perícia – Teste de ar alveolar (Etilômetro / Bafômetro)</a:t>
            </a:r>
          </a:p>
          <a:p>
            <a:pPr>
              <a:spcAft>
                <a:spcPts val="600"/>
              </a:spcAft>
            </a:pPr>
            <a:r>
              <a:rPr lang="pt-BR" b="1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</a:t>
            </a: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Verificação de Sinais de alteração da capacidade psicomotora</a:t>
            </a:r>
            <a:endParaRPr lang="pt-BR" b="1" i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17" name="Grupo 16"/>
          <p:cNvGrpSpPr/>
          <p:nvPr/>
        </p:nvGrpSpPr>
        <p:grpSpPr>
          <a:xfrm>
            <a:off x="602252" y="4447378"/>
            <a:ext cx="7858180" cy="428628"/>
            <a:chOff x="214282" y="4286262"/>
            <a:chExt cx="7858180" cy="500066"/>
          </a:xfrm>
        </p:grpSpPr>
        <p:sp>
          <p:nvSpPr>
            <p:cNvPr id="15" name="Retângulo 14"/>
            <p:cNvSpPr/>
            <p:nvPr/>
          </p:nvSpPr>
          <p:spPr>
            <a:xfrm>
              <a:off x="785786" y="4335883"/>
              <a:ext cx="7286676" cy="416722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700" dirty="0" smtClean="0">
                  <a:solidFill>
                    <a:srgbClr val="FF0000"/>
                  </a:solidFill>
                  <a:latin typeface="Calibri" pitchFamily="34" charset="0"/>
                  <a:cs typeface="Calibri" pitchFamily="34" charset="0"/>
                </a:rPr>
                <a:t>Prova testemunhal, imagem, vídeo ou outro meio de prova em direito admitido</a:t>
              </a:r>
              <a:endParaRPr lang="pt-BR" sz="17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6" name="Seta para a direita 15"/>
            <p:cNvSpPr/>
            <p:nvPr/>
          </p:nvSpPr>
          <p:spPr>
            <a:xfrm>
              <a:off x="214282" y="4286262"/>
              <a:ext cx="500066" cy="500066"/>
            </a:xfrm>
            <a:prstGeom prst="rightArrow">
              <a:avLst>
                <a:gd name="adj1" fmla="val 50000"/>
                <a:gd name="adj2" fmla="val 4752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44" y="1116870"/>
            <a:ext cx="2721193" cy="17709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Realização de teste de alcoolemia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2557149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9" descr="EMBRIAGUE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29520" y="1214428"/>
            <a:ext cx="1571636" cy="1529746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97200" y="540000"/>
            <a:ext cx="8964000" cy="49244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Embriaguez – </a:t>
            </a:r>
            <a:r>
              <a:rPr lang="pt-BR" sz="2600" b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INFRAÇÃO</a:t>
            </a:r>
            <a:endParaRPr lang="pt-BR" sz="2600" b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857224" y="1071552"/>
            <a:ext cx="7215238" cy="785818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Dirigir sob a influência de </a:t>
            </a:r>
            <a:r>
              <a:rPr lang="pt-BR" sz="2000" b="1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álcool ou de qualquer outra substância</a:t>
            </a:r>
            <a:r>
              <a:rPr lang="pt-BR" sz="2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psicoativa que determine dependência:</a:t>
            </a:r>
            <a:endParaRPr lang="pt-BR" sz="2000" i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1" name="Grupo 20"/>
          <p:cNvGrpSpPr/>
          <p:nvPr/>
        </p:nvGrpSpPr>
        <p:grpSpPr>
          <a:xfrm>
            <a:off x="319350" y="2859782"/>
            <a:ext cx="4114498" cy="1214446"/>
            <a:chOff x="285720" y="2786064"/>
            <a:chExt cx="3715200" cy="1214446"/>
          </a:xfrm>
        </p:grpSpPr>
        <p:sp>
          <p:nvSpPr>
            <p:cNvPr id="17" name="Retângulo 16"/>
            <p:cNvSpPr/>
            <p:nvPr/>
          </p:nvSpPr>
          <p:spPr>
            <a:xfrm>
              <a:off x="285720" y="3135614"/>
              <a:ext cx="3714776" cy="864896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285720" y="2786064"/>
              <a:ext cx="3715200" cy="35719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b="1" dirty="0" smtClean="0">
                  <a:latin typeface="Calibri" pitchFamily="34" charset="0"/>
                  <a:cs typeface="Calibri" pitchFamily="34" charset="0"/>
                </a:rPr>
                <a:t>Penalidades</a:t>
              </a:r>
              <a:endParaRPr lang="pt-BR" sz="2000" b="1" dirty="0"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20" name="CaixaDeTexto 19"/>
          <p:cNvSpPr txBox="1"/>
          <p:nvPr/>
        </p:nvSpPr>
        <p:spPr>
          <a:xfrm>
            <a:off x="319350" y="3288410"/>
            <a:ext cx="36433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►Multa Gravíssima x10</a:t>
            </a:r>
          </a:p>
          <a:p>
            <a:r>
              <a:rPr lang="pt-BR" sz="20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►Suspensão por 12 meses</a:t>
            </a:r>
            <a:endParaRPr lang="pt-BR" sz="2000" b="1" i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2" name="Grupo 21"/>
          <p:cNvGrpSpPr/>
          <p:nvPr/>
        </p:nvGrpSpPr>
        <p:grpSpPr>
          <a:xfrm>
            <a:off x="4648162" y="2859782"/>
            <a:ext cx="4172310" cy="1214446"/>
            <a:chOff x="285720" y="2786064"/>
            <a:chExt cx="3715200" cy="1214446"/>
          </a:xfrm>
        </p:grpSpPr>
        <p:sp>
          <p:nvSpPr>
            <p:cNvPr id="23" name="Retângulo 22"/>
            <p:cNvSpPr/>
            <p:nvPr/>
          </p:nvSpPr>
          <p:spPr>
            <a:xfrm>
              <a:off x="285720" y="3135614"/>
              <a:ext cx="3714776" cy="864896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4" name="Retângulo 23"/>
            <p:cNvSpPr/>
            <p:nvPr/>
          </p:nvSpPr>
          <p:spPr>
            <a:xfrm>
              <a:off x="285720" y="2786064"/>
              <a:ext cx="3715200" cy="35719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b="1" dirty="0" smtClean="0">
                  <a:latin typeface="Calibri" pitchFamily="34" charset="0"/>
                  <a:cs typeface="Calibri" pitchFamily="34" charset="0"/>
                </a:rPr>
                <a:t>Medidas Administrativas</a:t>
              </a:r>
              <a:endParaRPr lang="pt-BR" sz="2000" b="1" dirty="0"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25" name="CaixaDeTexto 24"/>
          <p:cNvSpPr txBox="1"/>
          <p:nvPr/>
        </p:nvSpPr>
        <p:spPr>
          <a:xfrm>
            <a:off x="4933490" y="3288410"/>
            <a:ext cx="36433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►Retenção do Veículo</a:t>
            </a:r>
          </a:p>
          <a:p>
            <a:r>
              <a:rPr lang="pt-BR" sz="2000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►Recolhimento da habilitação</a:t>
            </a:r>
            <a:endParaRPr lang="pt-BR" sz="2000" b="1" i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8" name="Grupo 27"/>
          <p:cNvGrpSpPr/>
          <p:nvPr/>
        </p:nvGrpSpPr>
        <p:grpSpPr>
          <a:xfrm>
            <a:off x="270440" y="4227934"/>
            <a:ext cx="8549556" cy="597933"/>
            <a:chOff x="142844" y="4214824"/>
            <a:chExt cx="7643866" cy="428628"/>
          </a:xfrm>
          <a:solidFill>
            <a:srgbClr val="FFFF00"/>
          </a:solidFill>
        </p:grpSpPr>
        <p:sp>
          <p:nvSpPr>
            <p:cNvPr id="26" name="Retângulo 25"/>
            <p:cNvSpPr/>
            <p:nvPr/>
          </p:nvSpPr>
          <p:spPr>
            <a:xfrm>
              <a:off x="642910" y="4214824"/>
              <a:ext cx="7143800" cy="428628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500" dirty="0" smtClean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►Em caso de </a:t>
              </a:r>
              <a:r>
                <a:rPr lang="pt-BR" sz="1500" u="sng" dirty="0" smtClean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reincidência</a:t>
              </a:r>
              <a:r>
                <a:rPr lang="pt-BR" sz="1500" dirty="0" smtClean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 será aplicada a </a:t>
              </a:r>
              <a:r>
                <a:rPr lang="pt-BR" sz="1500" dirty="0" smtClean="0">
                  <a:solidFill>
                    <a:srgbClr val="FF0000"/>
                  </a:solidFill>
                  <a:latin typeface="Calibri" pitchFamily="34" charset="0"/>
                  <a:cs typeface="Calibri" pitchFamily="34" charset="0"/>
                </a:rPr>
                <a:t>multa em dobro</a:t>
              </a:r>
              <a:r>
                <a:rPr lang="pt-BR" sz="1500" dirty="0" smtClean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.</a:t>
              </a:r>
            </a:p>
            <a:p>
              <a:r>
                <a:rPr lang="pt-BR" sz="1500" dirty="0" smtClean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►A </a:t>
              </a:r>
              <a:r>
                <a:rPr lang="pt-BR" sz="1500" u="sng" dirty="0" smtClean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recusa ao teste</a:t>
              </a:r>
              <a:r>
                <a:rPr lang="pt-BR" sz="1500" dirty="0" smtClean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 do etilômetro sujeita o infrator ao estabelecido no </a:t>
              </a:r>
              <a:r>
                <a:rPr lang="pt-BR" sz="1500" dirty="0" smtClean="0">
                  <a:solidFill>
                    <a:srgbClr val="FF0000"/>
                  </a:solidFill>
                  <a:latin typeface="Calibri" pitchFamily="34" charset="0"/>
                  <a:cs typeface="Calibri" pitchFamily="34" charset="0"/>
                </a:rPr>
                <a:t>art. 165A do CTB.</a:t>
              </a:r>
              <a:endParaRPr lang="pt-BR" sz="15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27" name="Seta para a direita 26"/>
            <p:cNvSpPr/>
            <p:nvPr/>
          </p:nvSpPr>
          <p:spPr>
            <a:xfrm>
              <a:off x="142844" y="4214824"/>
              <a:ext cx="428628" cy="428628"/>
            </a:xfrm>
            <a:prstGeom prst="rightArrow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31" name="CaixaDeTexto 30"/>
          <p:cNvSpPr txBox="1"/>
          <p:nvPr/>
        </p:nvSpPr>
        <p:spPr>
          <a:xfrm>
            <a:off x="857224" y="1857370"/>
            <a:ext cx="65008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►Qualquer</a:t>
            </a:r>
            <a:r>
              <a:rPr lang="pt-BR" sz="2000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 concentração de álcool por </a:t>
            </a:r>
            <a:r>
              <a:rPr lang="pt-BR" sz="2000" i="1" dirty="0" smtClean="0">
                <a:solidFill>
                  <a:srgbClr val="FF3300"/>
                </a:solidFill>
                <a:latin typeface="Calibri" pitchFamily="34" charset="0"/>
                <a:cs typeface="Calibri" pitchFamily="34" charset="0"/>
              </a:rPr>
              <a:t>litro de sangue</a:t>
            </a:r>
          </a:p>
          <a:p>
            <a:r>
              <a:rPr lang="pt-BR" sz="2000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►0,05 mg ou +</a:t>
            </a:r>
            <a:r>
              <a:rPr lang="pt-BR" sz="2000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 de álcool por litro de </a:t>
            </a:r>
            <a:r>
              <a:rPr lang="pt-BR" sz="2000" i="1" dirty="0" smtClean="0">
                <a:solidFill>
                  <a:srgbClr val="FF3300"/>
                </a:solidFill>
                <a:latin typeface="Calibri" pitchFamily="34" charset="0"/>
                <a:cs typeface="Calibri" pitchFamily="34" charset="0"/>
              </a:rPr>
              <a:t>ar alveolar</a:t>
            </a:r>
            <a:r>
              <a:rPr lang="pt-BR" sz="2000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 expirado</a:t>
            </a:r>
            <a:endParaRPr lang="pt-BR" sz="2000" dirty="0"/>
          </a:p>
        </p:txBody>
      </p:sp>
      <p:sp>
        <p:nvSpPr>
          <p:cNvPr id="32" name="Divisa 31"/>
          <p:cNvSpPr/>
          <p:nvPr/>
        </p:nvSpPr>
        <p:spPr>
          <a:xfrm>
            <a:off x="357158" y="1285866"/>
            <a:ext cx="285752" cy="428628"/>
          </a:xfrm>
          <a:prstGeom prst="chevron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Divisa 32"/>
          <p:cNvSpPr/>
          <p:nvPr/>
        </p:nvSpPr>
        <p:spPr>
          <a:xfrm>
            <a:off x="571472" y="1285866"/>
            <a:ext cx="285752" cy="428628"/>
          </a:xfrm>
          <a:prstGeom prst="chevron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Divisa 33"/>
          <p:cNvSpPr/>
          <p:nvPr/>
        </p:nvSpPr>
        <p:spPr>
          <a:xfrm>
            <a:off x="142844" y="1285866"/>
            <a:ext cx="285752" cy="428628"/>
          </a:xfrm>
          <a:prstGeom prst="chevron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9" name="Retângulo 28"/>
          <p:cNvSpPr/>
          <p:nvPr/>
        </p:nvSpPr>
        <p:spPr>
          <a:xfrm>
            <a:off x="3995936" y="600392"/>
            <a:ext cx="4980646" cy="35719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Art. 165 CTB / Leis 11.705/08 e 12.760 de 2012 / Res. 432 Contran</a:t>
            </a:r>
            <a:endParaRPr lang="pt-BR" sz="12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28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97200" y="540000"/>
            <a:ext cx="8964000" cy="49244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6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Embriaguez – </a:t>
            </a:r>
            <a:r>
              <a:rPr lang="pt-BR" sz="2600" b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CRIME</a:t>
            </a:r>
            <a:endParaRPr lang="pt-BR" sz="2600" b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285720" y="2500312"/>
            <a:ext cx="80010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►Exame de sangue com </a:t>
            </a:r>
            <a:r>
              <a:rPr lang="pt-BR" b="1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6 ou + dg</a:t>
            </a: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de álcool por litro de sangue (6 dg/L)</a:t>
            </a:r>
          </a:p>
          <a:p>
            <a:pPr>
              <a:lnSpc>
                <a:spcPct val="150000"/>
              </a:lnSpc>
            </a:pP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►Teste de etilômetro com </a:t>
            </a:r>
            <a:r>
              <a:rPr lang="pt-BR" b="1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0,34 ou + mg</a:t>
            </a: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de álcool por litro de ar alveolar expirado</a:t>
            </a:r>
          </a:p>
          <a:p>
            <a:pPr>
              <a:lnSpc>
                <a:spcPct val="150000"/>
              </a:lnSpc>
            </a:pP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►Exames </a:t>
            </a:r>
            <a:r>
              <a:rPr lang="pt-BR" b="1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laboratoriais</a:t>
            </a: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– em caso de outras substâncias psicoativas</a:t>
            </a:r>
          </a:p>
          <a:p>
            <a:pPr>
              <a:lnSpc>
                <a:spcPct val="150000"/>
              </a:lnSpc>
            </a:pPr>
            <a:r>
              <a:rPr lang="pt-BR" b="1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►Sinais de alteração</a:t>
            </a:r>
            <a:r>
              <a:rPr lang="pt-BR" b="1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da capacidade psicomotora</a:t>
            </a:r>
            <a:endParaRPr lang="pt-BR" b="1" i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2428860" y="1367937"/>
            <a:ext cx="6215106" cy="857256"/>
          </a:xfrm>
          <a:prstGeom prst="roundRect">
            <a:avLst>
              <a:gd name="adj" fmla="val 893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O </a:t>
            </a:r>
            <a:r>
              <a:rPr lang="pt-BR" sz="2000" b="1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crime de embriaguez</a:t>
            </a:r>
            <a:r>
              <a:rPr lang="pt-BR" sz="2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será caracterizado por</a:t>
            </a:r>
          </a:p>
          <a:p>
            <a:pPr algn="ctr"/>
            <a:r>
              <a:rPr lang="pt-BR" sz="2000" i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qualquer um dos procedimentos abaixo:</a:t>
            </a:r>
            <a:endParaRPr lang="pt-BR" sz="2000" i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17" name="Grupo 16"/>
          <p:cNvGrpSpPr/>
          <p:nvPr/>
        </p:nvGrpSpPr>
        <p:grpSpPr>
          <a:xfrm>
            <a:off x="571472" y="4357700"/>
            <a:ext cx="5645256" cy="428628"/>
            <a:chOff x="571472" y="4357700"/>
            <a:chExt cx="5645256" cy="428628"/>
          </a:xfrm>
        </p:grpSpPr>
        <p:sp>
          <p:nvSpPr>
            <p:cNvPr id="14" name="Retângulo 13"/>
            <p:cNvSpPr/>
            <p:nvPr/>
          </p:nvSpPr>
          <p:spPr>
            <a:xfrm>
              <a:off x="1073192" y="4397239"/>
              <a:ext cx="5143536" cy="357190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smtClean="0">
                  <a:solidFill>
                    <a:srgbClr val="FF0000"/>
                  </a:solidFill>
                  <a:latin typeface="Calibri" pitchFamily="34" charset="0"/>
                  <a:cs typeface="Calibri" pitchFamily="34" charset="0"/>
                </a:rPr>
                <a:t>Detenção de 6 meses a 3 anos</a:t>
              </a:r>
              <a:endParaRPr lang="pt-BR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5" name="Seta para a direita 14"/>
            <p:cNvSpPr/>
            <p:nvPr/>
          </p:nvSpPr>
          <p:spPr>
            <a:xfrm>
              <a:off x="571472" y="4357700"/>
              <a:ext cx="428628" cy="428628"/>
            </a:xfrm>
            <a:prstGeom prst="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6" name="Imagem 15" descr="BEBADO PRESO2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47383" y="3339448"/>
            <a:ext cx="2135500" cy="15791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Retângulo 17"/>
          <p:cNvSpPr/>
          <p:nvPr/>
        </p:nvSpPr>
        <p:spPr>
          <a:xfrm>
            <a:off x="3995936" y="600392"/>
            <a:ext cx="4980646" cy="35719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Art. 306 CTB / Leis 11.705/08 e 12.760 de 2012 / Res. 432 Contran</a:t>
            </a:r>
            <a:endParaRPr lang="pt-BR" sz="1200" b="1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088342"/>
            <a:ext cx="1698152" cy="149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2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/>
          <p:cNvSpPr/>
          <p:nvPr/>
        </p:nvSpPr>
        <p:spPr>
          <a:xfrm>
            <a:off x="0" y="4299634"/>
            <a:ext cx="9144000" cy="262214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rgbClr val="C00000"/>
                </a:solidFill>
              </a:rPr>
              <a:t>*Deve-se descontar a MARGEM DE ERRO do equipamento (Etilômetro) de 0,04 mg</a:t>
            </a:r>
            <a:endParaRPr lang="pt-BR" sz="1200" dirty="0">
              <a:solidFill>
                <a:srgbClr val="C00000"/>
              </a:solidFill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0" y="4651599"/>
            <a:ext cx="9144000" cy="262214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2"/>
                </a:solidFill>
              </a:rPr>
              <a:t>►No exame de sangue NÃO há margem de erro a descontar</a:t>
            </a:r>
            <a:endParaRPr lang="pt-BR" sz="1200" dirty="0">
              <a:solidFill>
                <a:schemeClr val="tx2"/>
              </a:solidFill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Embriaguez – Infração / Crime</a:t>
            </a:r>
            <a:endParaRPr lang="pt-BR" sz="1000" b="1" dirty="0"/>
          </a:p>
        </p:txBody>
      </p:sp>
      <p:grpSp>
        <p:nvGrpSpPr>
          <p:cNvPr id="26" name="Grupo 25"/>
          <p:cNvGrpSpPr/>
          <p:nvPr/>
        </p:nvGrpSpPr>
        <p:grpSpPr>
          <a:xfrm>
            <a:off x="529184" y="1456129"/>
            <a:ext cx="5400000" cy="2592288"/>
            <a:chOff x="2531222" y="1407604"/>
            <a:chExt cx="5400000" cy="2592288"/>
          </a:xfrm>
        </p:grpSpPr>
        <p:cxnSp>
          <p:nvCxnSpPr>
            <p:cNvPr id="4" name="Conector reto 3"/>
            <p:cNvCxnSpPr/>
            <p:nvPr/>
          </p:nvCxnSpPr>
          <p:spPr>
            <a:xfrm>
              <a:off x="3923928" y="1407604"/>
              <a:ext cx="0" cy="2592288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>
              <a:off x="5796136" y="1407604"/>
              <a:ext cx="0" cy="2592288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>
            <a:xfrm flipH="1">
              <a:off x="2531222" y="2775756"/>
              <a:ext cx="540000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/>
            <p:cNvCxnSpPr/>
            <p:nvPr/>
          </p:nvCxnSpPr>
          <p:spPr>
            <a:xfrm flipH="1">
              <a:off x="2531222" y="3418364"/>
              <a:ext cx="5400000" cy="9902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aixaDeTexto 7"/>
          <p:cNvSpPr txBox="1"/>
          <p:nvPr/>
        </p:nvSpPr>
        <p:spPr>
          <a:xfrm>
            <a:off x="2037289" y="2418442"/>
            <a:ext cx="1493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AR ALVEOLAR</a:t>
            </a:r>
            <a:endParaRPr lang="pt-B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3927945" y="2418442"/>
            <a:ext cx="1738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EXAME SANGUE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40494" y="2928227"/>
            <a:ext cx="12970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 smtClean="0">
                <a:solidFill>
                  <a:schemeClr val="tx2"/>
                </a:solidFill>
              </a:rPr>
              <a:t>INFRAÇÃO</a:t>
            </a:r>
            <a:endParaRPr lang="pt-BR" sz="2000" b="1" dirty="0">
              <a:solidFill>
                <a:schemeClr val="tx2"/>
              </a:solidFill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572703" y="3615343"/>
            <a:ext cx="8835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 smtClean="0">
                <a:solidFill>
                  <a:srgbClr val="C00000"/>
                </a:solidFill>
              </a:rPr>
              <a:t>CRIME</a:t>
            </a:r>
            <a:endParaRPr lang="pt-BR" sz="2000" b="1" dirty="0">
              <a:solidFill>
                <a:srgbClr val="C00000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227759" y="2991975"/>
            <a:ext cx="1284817" cy="288032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0,05 mg*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4103589" y="3007263"/>
            <a:ext cx="1284817" cy="288032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0,1 dg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2227758" y="3638961"/>
            <a:ext cx="1284817" cy="288032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0,34 mg*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4099966" y="3632338"/>
            <a:ext cx="1284817" cy="288032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6 dg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94" r="23540"/>
          <a:stretch/>
        </p:blipFill>
        <p:spPr>
          <a:xfrm>
            <a:off x="2086959" y="1443743"/>
            <a:ext cx="1489348" cy="983991"/>
          </a:xfrm>
          <a:prstGeom prst="rect">
            <a:avLst/>
          </a:prstGeom>
          <a:ln>
            <a:noFill/>
          </a:ln>
          <a:effectLst>
            <a:softEdge rad="38100"/>
          </a:effec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1432484"/>
            <a:ext cx="1492876" cy="995250"/>
          </a:xfrm>
          <a:prstGeom prst="rect">
            <a:avLst/>
          </a:prstGeom>
          <a:ln>
            <a:noFill/>
          </a:ln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406446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29" grpId="0"/>
      <p:bldP spid="32" grpId="0"/>
      <p:bldP spid="2" grpId="0" animBg="1"/>
      <p:bldP spid="20" grpId="0" animBg="1"/>
      <p:bldP spid="21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/>
          <p:nvPr/>
        </p:nvSpPr>
        <p:spPr>
          <a:xfrm>
            <a:off x="71439" y="1308579"/>
            <a:ext cx="7143800" cy="428628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dirty="0">
                <a:solidFill>
                  <a:srgbClr val="C00000"/>
                </a:solidFill>
              </a:rPr>
              <a:t>Causar *</a:t>
            </a:r>
            <a:r>
              <a:rPr lang="pt-PT" sz="1600" u="sng" dirty="0">
                <a:solidFill>
                  <a:srgbClr val="C00000"/>
                </a:solidFill>
              </a:rPr>
              <a:t>morte</a:t>
            </a:r>
            <a:r>
              <a:rPr lang="pt-PT" sz="1600" dirty="0">
                <a:solidFill>
                  <a:srgbClr val="C00000"/>
                </a:solidFill>
              </a:rPr>
              <a:t>, resultante de corrida, disputa ou competição não autorizada.</a:t>
            </a:r>
            <a:endParaRPr lang="pt-BR" sz="1500" b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7358082" y="1308579"/>
            <a:ext cx="1652598" cy="428628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5 a 10 anos </a:t>
            </a:r>
            <a:r>
              <a:rPr lang="pt-BR" sz="1600" baseline="30000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Rec</a:t>
            </a:r>
            <a:endParaRPr lang="pt-BR" sz="1600" baseline="30000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71407" y="2068370"/>
            <a:ext cx="7143800" cy="428628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dirty="0">
                <a:solidFill>
                  <a:srgbClr val="C00000"/>
                </a:solidFill>
              </a:rPr>
              <a:t>Praticar *</a:t>
            </a:r>
            <a:r>
              <a:rPr lang="pt-PT" sz="1600" u="sng" dirty="0">
                <a:solidFill>
                  <a:srgbClr val="C00000"/>
                </a:solidFill>
              </a:rPr>
              <a:t>homicídio</a:t>
            </a:r>
            <a:r>
              <a:rPr lang="pt-PT" sz="1600" dirty="0">
                <a:solidFill>
                  <a:srgbClr val="C00000"/>
                </a:solidFill>
              </a:rPr>
              <a:t> estando o condutor sob o efeito de álcool ou psicoativos.</a:t>
            </a:r>
            <a:endParaRPr lang="pt-BR" sz="1500" b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7358050" y="2068370"/>
            <a:ext cx="1652598" cy="428628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5 a 8 anos </a:t>
            </a:r>
            <a:r>
              <a:rPr lang="pt-BR" sz="1600" baseline="30000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Rec</a:t>
            </a:r>
            <a:endParaRPr lang="pt-BR" sz="1600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79046" y="1215875"/>
            <a:ext cx="1072800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latin typeface="Calibri" pitchFamily="34" charset="0"/>
                <a:cs typeface="Calibri" pitchFamily="34" charset="0"/>
              </a:rPr>
              <a:t>Art. 308 </a:t>
            </a:r>
            <a:r>
              <a:rPr lang="pt-PT" sz="1200" b="1" dirty="0"/>
              <a:t>§ 2</a:t>
            </a:r>
            <a:r>
              <a:rPr lang="pt-PT" sz="1200" b="1" baseline="30000" dirty="0"/>
              <a:t>o 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71406" y="1965034"/>
            <a:ext cx="1071570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latin typeface="Calibri" pitchFamily="34" charset="0"/>
                <a:cs typeface="Calibri" pitchFamily="34" charset="0"/>
              </a:rPr>
              <a:t>Art. 302 </a:t>
            </a:r>
            <a:r>
              <a:rPr lang="pt-PT" sz="1200" b="1" dirty="0"/>
              <a:t>§ 3</a:t>
            </a:r>
            <a:r>
              <a:rPr lang="pt-PT" sz="1200" b="1" baseline="30000" dirty="0"/>
              <a:t>º</a:t>
            </a:r>
            <a:r>
              <a:rPr lang="pt-PT" sz="1200" b="1" dirty="0"/>
              <a:t> </a:t>
            </a:r>
            <a:r>
              <a:rPr lang="pt-PT" sz="1200" b="1" baseline="30000" dirty="0"/>
              <a:t> 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7858149" y="1165703"/>
            <a:ext cx="1143008" cy="214314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baseline="30000" dirty="0" err="1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Rec</a:t>
            </a:r>
            <a:r>
              <a:rPr lang="pt-BR" sz="15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Reclusão</a:t>
            </a:r>
          </a:p>
        </p:txBody>
      </p:sp>
      <p:sp>
        <p:nvSpPr>
          <p:cNvPr id="28" name="Retângulo 27"/>
          <p:cNvSpPr/>
          <p:nvPr/>
        </p:nvSpPr>
        <p:spPr>
          <a:xfrm>
            <a:off x="7129605" y="4956142"/>
            <a:ext cx="2014396" cy="1873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50" b="1" dirty="0">
                <a:solidFill>
                  <a:schemeClr val="tx1"/>
                </a:solidFill>
              </a:rPr>
              <a:t>CTB – Capítulo XIX Seção II</a:t>
            </a:r>
          </a:p>
        </p:txBody>
      </p:sp>
      <p:sp>
        <p:nvSpPr>
          <p:cNvPr id="30" name="Retângulo 29"/>
          <p:cNvSpPr/>
          <p:nvPr/>
        </p:nvSpPr>
        <p:spPr>
          <a:xfrm>
            <a:off x="80733" y="2854472"/>
            <a:ext cx="7143800" cy="428628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500" dirty="0">
                <a:solidFill>
                  <a:srgbClr val="C00000"/>
                </a:solidFill>
              </a:rPr>
              <a:t>Causar *</a:t>
            </a:r>
            <a:r>
              <a:rPr lang="pt-PT" sz="1500" u="sng" dirty="0">
                <a:solidFill>
                  <a:srgbClr val="C00000"/>
                </a:solidFill>
              </a:rPr>
              <a:t>lesão corporal</a:t>
            </a:r>
            <a:r>
              <a:rPr lang="pt-PT" sz="1500" dirty="0">
                <a:solidFill>
                  <a:srgbClr val="C00000"/>
                </a:solidFill>
              </a:rPr>
              <a:t>, resultante de corrida, disputa ou competição não autorizada.</a:t>
            </a:r>
            <a:endParaRPr lang="pt-BR" sz="1500" b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7367376" y="2854472"/>
            <a:ext cx="1652598" cy="428628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3 a 6 anos </a:t>
            </a:r>
            <a:r>
              <a:rPr lang="pt-BR" sz="1600" baseline="30000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Rec</a:t>
            </a:r>
            <a:endParaRPr lang="pt-BR" sz="1600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2" name="Retângulo 31"/>
          <p:cNvSpPr/>
          <p:nvPr/>
        </p:nvSpPr>
        <p:spPr>
          <a:xfrm>
            <a:off x="80732" y="2751136"/>
            <a:ext cx="1071570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latin typeface="Calibri" pitchFamily="34" charset="0"/>
                <a:cs typeface="Calibri" pitchFamily="34" charset="0"/>
              </a:rPr>
              <a:t>Art. 308 </a:t>
            </a:r>
            <a:r>
              <a:rPr lang="pt-PT" sz="1200" b="1" dirty="0"/>
              <a:t>§ 1</a:t>
            </a:r>
            <a:r>
              <a:rPr lang="pt-PT" sz="1200" b="1" baseline="30000" dirty="0"/>
              <a:t>º</a:t>
            </a:r>
            <a:r>
              <a:rPr lang="pt-PT" sz="1200" b="1" dirty="0"/>
              <a:t> </a:t>
            </a:r>
            <a:r>
              <a:rPr lang="pt-PT" sz="1200" b="1" baseline="30000" dirty="0"/>
              <a:t> 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Retângulo 32"/>
          <p:cNvSpPr/>
          <p:nvPr/>
        </p:nvSpPr>
        <p:spPr>
          <a:xfrm>
            <a:off x="90059" y="3626589"/>
            <a:ext cx="7143800" cy="428628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dirty="0">
                <a:solidFill>
                  <a:srgbClr val="C00000"/>
                </a:solidFill>
              </a:rPr>
              <a:t>Praticar *</a:t>
            </a:r>
            <a:r>
              <a:rPr lang="pt-PT" sz="1600" u="sng" dirty="0">
                <a:solidFill>
                  <a:srgbClr val="C00000"/>
                </a:solidFill>
              </a:rPr>
              <a:t>lesão corporal</a:t>
            </a:r>
            <a:r>
              <a:rPr lang="pt-PT" sz="1600" dirty="0">
                <a:solidFill>
                  <a:srgbClr val="C00000"/>
                </a:solidFill>
              </a:rPr>
              <a:t> estando o condutor sob o efeito de álcool ou psicoativos.</a:t>
            </a:r>
            <a:endParaRPr lang="pt-BR" sz="1500" b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Retângulo 33"/>
          <p:cNvSpPr/>
          <p:nvPr/>
        </p:nvSpPr>
        <p:spPr>
          <a:xfrm>
            <a:off x="7376702" y="3626589"/>
            <a:ext cx="1652598" cy="428628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 a 5 anos </a:t>
            </a:r>
            <a:r>
              <a:rPr lang="pt-BR" sz="1600" baseline="30000" dirty="0" err="1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Rec</a:t>
            </a:r>
            <a:endParaRPr lang="pt-BR" sz="1600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90059" y="3523253"/>
            <a:ext cx="1071570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latin typeface="Calibri" pitchFamily="34" charset="0"/>
                <a:cs typeface="Calibri" pitchFamily="34" charset="0"/>
              </a:rPr>
              <a:t>Art. 303 </a:t>
            </a:r>
            <a:r>
              <a:rPr lang="pt-PT" sz="1200" b="1" dirty="0"/>
              <a:t>§ 2</a:t>
            </a:r>
            <a:r>
              <a:rPr lang="pt-PT" sz="1200" b="1" baseline="30000" dirty="0"/>
              <a:t>º</a:t>
            </a:r>
            <a:r>
              <a:rPr lang="pt-PT" sz="1200" b="1" dirty="0"/>
              <a:t> </a:t>
            </a:r>
            <a:r>
              <a:rPr lang="pt-PT" sz="1200" b="1" baseline="30000" dirty="0"/>
              <a:t> 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Retângulo 35"/>
          <p:cNvSpPr/>
          <p:nvPr/>
        </p:nvSpPr>
        <p:spPr>
          <a:xfrm>
            <a:off x="0" y="4299634"/>
            <a:ext cx="9144000" cy="262214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C00000"/>
                </a:solidFill>
              </a:rPr>
              <a:t>RECLUSÃO – Submete o condenado à pena em regime FECHADO, aberto ou semiaberto.</a:t>
            </a:r>
          </a:p>
        </p:txBody>
      </p:sp>
      <p:sp>
        <p:nvSpPr>
          <p:cNvPr id="37" name="Retângulo 36"/>
          <p:cNvSpPr/>
          <p:nvPr/>
        </p:nvSpPr>
        <p:spPr>
          <a:xfrm>
            <a:off x="0" y="4651599"/>
            <a:ext cx="9144000" cy="262214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2"/>
                </a:solidFill>
              </a:rPr>
              <a:t>*Referem-se à prática de crime do tipo CULPOSO</a:t>
            </a:r>
          </a:p>
        </p:txBody>
      </p:sp>
      <p:pic>
        <p:nvPicPr>
          <p:cNvPr id="26" name="Imagem 2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27" name="CaixaDeTexto 26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Crimes de Trânsito </a:t>
            </a:r>
            <a:r>
              <a:rPr lang="pt-BR" sz="1000" b="1" dirty="0" smtClean="0"/>
              <a:t>(Cap. XIX Seção II do CTB)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242128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tângulo 48"/>
          <p:cNvSpPr/>
          <p:nvPr/>
        </p:nvSpPr>
        <p:spPr>
          <a:xfrm>
            <a:off x="71439" y="2059186"/>
            <a:ext cx="6643702" cy="428628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dirty="0">
                <a:solidFill>
                  <a:schemeClr val="tx2"/>
                </a:solidFill>
              </a:rPr>
              <a:t>Dirigir sob influência de </a:t>
            </a:r>
            <a:r>
              <a:rPr lang="pt-PT" sz="1600" u="sng" dirty="0">
                <a:solidFill>
                  <a:schemeClr val="tx2"/>
                </a:solidFill>
              </a:rPr>
              <a:t>álcool</a:t>
            </a:r>
            <a:r>
              <a:rPr lang="pt-PT" sz="1600" dirty="0">
                <a:solidFill>
                  <a:schemeClr val="tx2"/>
                </a:solidFill>
              </a:rPr>
              <a:t> (</a:t>
            </a:r>
            <a:r>
              <a:rPr lang="pt-PT" sz="1600">
                <a:solidFill>
                  <a:schemeClr val="tx2"/>
                </a:solidFill>
              </a:rPr>
              <a:t>6 dg </a:t>
            </a:r>
            <a:r>
              <a:rPr lang="pt-PT" sz="1600" dirty="0">
                <a:solidFill>
                  <a:schemeClr val="tx2"/>
                </a:solidFill>
              </a:rPr>
              <a:t>ou 0,3 mg) ou </a:t>
            </a:r>
            <a:r>
              <a:rPr lang="pt-PT" sz="1600" u="sng" dirty="0">
                <a:solidFill>
                  <a:schemeClr val="tx2"/>
                </a:solidFill>
              </a:rPr>
              <a:t>substância psicoativa</a:t>
            </a:r>
            <a:r>
              <a:rPr lang="pt-PT" sz="1600" dirty="0">
                <a:solidFill>
                  <a:schemeClr val="tx2"/>
                </a:solidFill>
              </a:rPr>
              <a:t>.</a:t>
            </a:r>
            <a:endParaRPr lang="pt-BR" sz="1500" b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0" name="Retângulo 49"/>
          <p:cNvSpPr/>
          <p:nvPr/>
        </p:nvSpPr>
        <p:spPr>
          <a:xfrm>
            <a:off x="6858016" y="2059186"/>
            <a:ext cx="2152664" cy="428628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2"/>
                </a:solidFill>
              </a:rPr>
              <a:t>6 meses a 3 anos</a:t>
            </a:r>
            <a:r>
              <a:rPr lang="pt-BR" sz="1600" baseline="30000" dirty="0">
                <a:solidFill>
                  <a:schemeClr val="tx2"/>
                </a:solidFill>
              </a:rPr>
              <a:t> Det</a:t>
            </a:r>
            <a:endParaRPr lang="pt-BR" sz="1600" dirty="0">
              <a:solidFill>
                <a:schemeClr val="tx2"/>
              </a:solidFill>
            </a:endParaRPr>
          </a:p>
        </p:txBody>
      </p:sp>
      <p:sp>
        <p:nvSpPr>
          <p:cNvPr id="51" name="Retângulo 50"/>
          <p:cNvSpPr/>
          <p:nvPr/>
        </p:nvSpPr>
        <p:spPr>
          <a:xfrm>
            <a:off x="71406" y="2827118"/>
            <a:ext cx="6643702" cy="428628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dirty="0">
                <a:solidFill>
                  <a:schemeClr val="tx2"/>
                </a:solidFill>
              </a:rPr>
              <a:t>Participar de </a:t>
            </a:r>
            <a:r>
              <a:rPr lang="pt-PT" sz="1600" u="sng" dirty="0">
                <a:solidFill>
                  <a:schemeClr val="tx2"/>
                </a:solidFill>
              </a:rPr>
              <a:t>corrida</a:t>
            </a:r>
            <a:r>
              <a:rPr lang="pt-PT" sz="1600" dirty="0">
                <a:solidFill>
                  <a:schemeClr val="tx2"/>
                </a:solidFill>
              </a:rPr>
              <a:t>, disputa ou competição não autorizada.</a:t>
            </a:r>
            <a:endParaRPr lang="pt-BR" sz="1600" dirty="0">
              <a:solidFill>
                <a:schemeClr val="tx2"/>
              </a:solidFill>
            </a:endParaRPr>
          </a:p>
        </p:txBody>
      </p:sp>
      <p:sp>
        <p:nvSpPr>
          <p:cNvPr id="59" name="Retângulo 58"/>
          <p:cNvSpPr/>
          <p:nvPr/>
        </p:nvSpPr>
        <p:spPr>
          <a:xfrm>
            <a:off x="71406" y="3605234"/>
            <a:ext cx="6643702" cy="428628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dirty="0">
                <a:solidFill>
                  <a:schemeClr val="tx2"/>
                </a:solidFill>
              </a:rPr>
              <a:t>Praticar </a:t>
            </a:r>
            <a:r>
              <a:rPr lang="pt-PT" sz="1600" u="sng" dirty="0">
                <a:solidFill>
                  <a:schemeClr val="tx2"/>
                </a:solidFill>
              </a:rPr>
              <a:t>lesão corporal </a:t>
            </a:r>
            <a:r>
              <a:rPr lang="pt-PT" sz="1600" dirty="0">
                <a:solidFill>
                  <a:schemeClr val="tx2"/>
                </a:solidFill>
              </a:rPr>
              <a:t>culposa, na direção de veículo automotor</a:t>
            </a:r>
            <a:endParaRPr lang="pt-BR" sz="1600" dirty="0">
              <a:solidFill>
                <a:schemeClr val="tx2"/>
              </a:solidFill>
            </a:endParaRPr>
          </a:p>
        </p:txBody>
      </p:sp>
      <p:sp>
        <p:nvSpPr>
          <p:cNvPr id="69" name="Retângulo 68"/>
          <p:cNvSpPr/>
          <p:nvPr/>
        </p:nvSpPr>
        <p:spPr>
          <a:xfrm>
            <a:off x="6858016" y="2827118"/>
            <a:ext cx="2152664" cy="428628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2"/>
                </a:solidFill>
              </a:rPr>
              <a:t>6 meses a 3 anos </a:t>
            </a:r>
            <a:r>
              <a:rPr lang="pt-BR" sz="1600" baseline="30000" dirty="0">
                <a:solidFill>
                  <a:schemeClr val="tx2"/>
                </a:solidFill>
              </a:rPr>
              <a:t>Det</a:t>
            </a:r>
            <a:endParaRPr lang="pt-BR" sz="1600" dirty="0">
              <a:solidFill>
                <a:schemeClr val="tx2"/>
              </a:solidFill>
            </a:endParaRPr>
          </a:p>
        </p:txBody>
      </p:sp>
      <p:sp>
        <p:nvSpPr>
          <p:cNvPr id="70" name="Retângulo 69"/>
          <p:cNvSpPr/>
          <p:nvPr/>
        </p:nvSpPr>
        <p:spPr>
          <a:xfrm>
            <a:off x="6858016" y="3605234"/>
            <a:ext cx="2152664" cy="428628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2"/>
                </a:solidFill>
              </a:rPr>
              <a:t>6 meses a 2 anos </a:t>
            </a:r>
            <a:r>
              <a:rPr lang="pt-BR" sz="1600" baseline="30000" dirty="0">
                <a:solidFill>
                  <a:schemeClr val="tx2"/>
                </a:solidFill>
              </a:rPr>
              <a:t>Det</a:t>
            </a:r>
            <a:endParaRPr lang="pt-BR" sz="1600" dirty="0">
              <a:solidFill>
                <a:schemeClr val="tx2"/>
              </a:solidFill>
            </a:endParaRPr>
          </a:p>
        </p:txBody>
      </p:sp>
      <p:sp>
        <p:nvSpPr>
          <p:cNvPr id="75" name="Retângulo 74"/>
          <p:cNvSpPr/>
          <p:nvPr/>
        </p:nvSpPr>
        <p:spPr>
          <a:xfrm>
            <a:off x="71406" y="1966482"/>
            <a:ext cx="1071570" cy="18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latin typeface="Calibri" pitchFamily="34" charset="0"/>
                <a:cs typeface="Calibri" pitchFamily="34" charset="0"/>
              </a:rPr>
              <a:t>Art. 306</a:t>
            </a:r>
            <a:r>
              <a:rPr lang="pt-PT" sz="1200" b="1" baseline="30000" dirty="0"/>
              <a:t> 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6" name="Retângulo 75"/>
          <p:cNvSpPr/>
          <p:nvPr/>
        </p:nvSpPr>
        <p:spPr>
          <a:xfrm>
            <a:off x="71406" y="2739821"/>
            <a:ext cx="1071570" cy="18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latin typeface="Calibri" pitchFamily="34" charset="0"/>
                <a:cs typeface="Calibri" pitchFamily="34" charset="0"/>
              </a:rPr>
              <a:t>Art. 308</a:t>
            </a:r>
            <a:r>
              <a:rPr lang="pt-PT" sz="1200" b="1" baseline="30000" dirty="0"/>
              <a:t> 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7" name="Retângulo 76"/>
          <p:cNvSpPr/>
          <p:nvPr/>
        </p:nvSpPr>
        <p:spPr>
          <a:xfrm>
            <a:off x="71406" y="3517939"/>
            <a:ext cx="1071570" cy="18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latin typeface="Calibri" pitchFamily="34" charset="0"/>
                <a:cs typeface="Calibri" pitchFamily="34" charset="0"/>
              </a:rPr>
              <a:t>Art. 303</a:t>
            </a:r>
            <a:r>
              <a:rPr lang="pt-PT" sz="1200" b="1" baseline="30000" dirty="0"/>
              <a:t> 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71439" y="1292144"/>
            <a:ext cx="6643702" cy="428628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dirty="0">
                <a:solidFill>
                  <a:schemeClr val="tx2"/>
                </a:solidFill>
              </a:rPr>
              <a:t>Praticar </a:t>
            </a:r>
            <a:r>
              <a:rPr lang="pt-PT" sz="1600" u="sng" dirty="0">
                <a:solidFill>
                  <a:schemeClr val="tx2"/>
                </a:solidFill>
              </a:rPr>
              <a:t>homicídio culposo</a:t>
            </a:r>
            <a:r>
              <a:rPr lang="pt-PT" sz="1600" dirty="0">
                <a:solidFill>
                  <a:schemeClr val="tx2"/>
                </a:solidFill>
              </a:rPr>
              <a:t>, na direção de veículo automotor</a:t>
            </a:r>
            <a:endParaRPr lang="pt-BR" sz="1600" dirty="0">
              <a:solidFill>
                <a:schemeClr val="tx2"/>
              </a:solidFill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6858016" y="1292144"/>
            <a:ext cx="2152664" cy="428628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2"/>
                </a:solidFill>
              </a:rPr>
              <a:t>2 a 4 anos </a:t>
            </a:r>
            <a:r>
              <a:rPr lang="pt-BR" sz="1600" baseline="30000" dirty="0">
                <a:solidFill>
                  <a:schemeClr val="tx2"/>
                </a:solidFill>
              </a:rPr>
              <a:t>Det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71406" y="1199440"/>
            <a:ext cx="1071570" cy="18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latin typeface="Calibri" pitchFamily="34" charset="0"/>
                <a:cs typeface="Calibri" pitchFamily="34" charset="0"/>
              </a:rPr>
              <a:t>Art. 302</a:t>
            </a:r>
            <a:r>
              <a:rPr lang="pt-PT" sz="1200" b="1" baseline="30000" dirty="0"/>
              <a:t> 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7715272" y="1163448"/>
            <a:ext cx="1285884" cy="217307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baseline="300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Det</a:t>
            </a:r>
            <a:r>
              <a:rPr lang="pt-BR" sz="15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Detenção</a:t>
            </a:r>
          </a:p>
        </p:txBody>
      </p:sp>
      <p:sp>
        <p:nvSpPr>
          <p:cNvPr id="28" name="Retângulo 27"/>
          <p:cNvSpPr/>
          <p:nvPr/>
        </p:nvSpPr>
        <p:spPr>
          <a:xfrm>
            <a:off x="7129605" y="4956142"/>
            <a:ext cx="2014396" cy="1873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50" b="1" dirty="0">
                <a:solidFill>
                  <a:schemeClr val="tx1"/>
                </a:solidFill>
              </a:rPr>
              <a:t>CTB – Capítulo XIX Seção II</a:t>
            </a:r>
          </a:p>
        </p:txBody>
      </p:sp>
      <p:sp>
        <p:nvSpPr>
          <p:cNvPr id="30" name="Retângulo 29"/>
          <p:cNvSpPr/>
          <p:nvPr/>
        </p:nvSpPr>
        <p:spPr>
          <a:xfrm>
            <a:off x="0" y="4523572"/>
            <a:ext cx="9144000" cy="262214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C00000"/>
                </a:solidFill>
              </a:rPr>
              <a:t>DETENÇÃO – Submete o condenado à pena em regime ABERTO ou semiaberto.</a:t>
            </a: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21" name="CaixaDeTexto 20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Crimes de Trânsito </a:t>
            </a:r>
            <a:r>
              <a:rPr lang="pt-BR" sz="1000" b="1" dirty="0" smtClean="0"/>
              <a:t>(Cap. XIX Seção II do CTB)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117587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59" grpId="0" animBg="1"/>
      <p:bldP spid="69" grpId="0" animBg="1"/>
      <p:bldP spid="70" grpId="0" animBg="1"/>
      <p:bldP spid="75" grpId="0" animBg="1"/>
      <p:bldP spid="76" grpId="0" animBg="1"/>
      <p:bldP spid="77" grpId="0" animBg="1"/>
      <p:bldP spid="24" grpId="0" animBg="1"/>
      <p:bldP spid="25" grpId="0" animBg="1"/>
      <p:bldP spid="26" grpId="0" animBg="1"/>
      <p:bldP spid="27" grpId="0" animBg="1"/>
      <p:bldP spid="3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71439" y="814564"/>
            <a:ext cx="6929486" cy="35719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006600"/>
                </a:solidFill>
              </a:rPr>
              <a:t>Deixar o condutor do veículo, de prestar imediato socorro à vítima ...</a:t>
            </a:r>
          </a:p>
        </p:txBody>
      </p:sp>
      <p:sp>
        <p:nvSpPr>
          <p:cNvPr id="6" name="Retângulo 5"/>
          <p:cNvSpPr/>
          <p:nvPr/>
        </p:nvSpPr>
        <p:spPr>
          <a:xfrm>
            <a:off x="71407" y="1391111"/>
            <a:ext cx="6929486" cy="35719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006600"/>
                </a:solidFill>
              </a:rPr>
              <a:t>Afastar-se do local do acidente, para fugir à responsabilidade penal ou civil ...</a:t>
            </a:r>
          </a:p>
        </p:txBody>
      </p:sp>
      <p:sp>
        <p:nvSpPr>
          <p:cNvPr id="7" name="Retângulo 6"/>
          <p:cNvSpPr/>
          <p:nvPr/>
        </p:nvSpPr>
        <p:spPr>
          <a:xfrm>
            <a:off x="71407" y="1967658"/>
            <a:ext cx="6929486" cy="35719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006600"/>
                </a:solidFill>
              </a:rPr>
              <a:t>Violar a suspensão ou a proibição de se obter a habilitação para dirigir ...</a:t>
            </a:r>
          </a:p>
        </p:txBody>
      </p:sp>
      <p:sp>
        <p:nvSpPr>
          <p:cNvPr id="10" name="Retângulo 9"/>
          <p:cNvSpPr/>
          <p:nvPr/>
        </p:nvSpPr>
        <p:spPr>
          <a:xfrm>
            <a:off x="7143768" y="1967658"/>
            <a:ext cx="1866912" cy="35719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6600"/>
                </a:solidFill>
              </a:rPr>
              <a:t>6 meses a 1 ano </a:t>
            </a:r>
            <a:r>
              <a:rPr lang="pt-BR" sz="1600" baseline="30000" dirty="0">
                <a:solidFill>
                  <a:srgbClr val="006600"/>
                </a:solidFill>
              </a:rPr>
              <a:t>Det</a:t>
            </a:r>
            <a:endParaRPr lang="pt-BR" sz="1600" dirty="0">
              <a:solidFill>
                <a:srgbClr val="006600"/>
              </a:solidFill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71439" y="2544204"/>
            <a:ext cx="6929486" cy="35719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006600"/>
                </a:solidFill>
              </a:rPr>
              <a:t>Dirigir sem Habilitação ou cassado o direito de dirigir, gerando perigo de dano.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1407" y="3120751"/>
            <a:ext cx="6929486" cy="35719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dirty="0">
                <a:solidFill>
                  <a:srgbClr val="006600"/>
                </a:solidFill>
              </a:rPr>
              <a:t>Entregar a direção à pessoa não habilitada, cassada ou sem condições ...</a:t>
            </a:r>
            <a:endParaRPr lang="pt-BR" sz="1600" dirty="0">
              <a:solidFill>
                <a:srgbClr val="006600"/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71407" y="3713917"/>
            <a:ext cx="6929486" cy="35719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006600"/>
                </a:solidFill>
              </a:rPr>
              <a:t>Trafegar em velocidade incompatível nas proximidades de escolas, hospitais ...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71407" y="4299758"/>
            <a:ext cx="6929486" cy="35719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600" dirty="0">
                <a:solidFill>
                  <a:srgbClr val="006600"/>
                </a:solidFill>
              </a:rPr>
              <a:t>Inovar artificiosamente, o local do acidente a fim de prejudicar as investigações ...</a:t>
            </a:r>
            <a:endParaRPr lang="pt-BR" sz="1600" dirty="0">
              <a:solidFill>
                <a:srgbClr val="006600"/>
              </a:solidFill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79046" y="711227"/>
            <a:ext cx="1071570" cy="18000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>
                <a:latin typeface="Calibri" pitchFamily="34" charset="0"/>
                <a:cs typeface="Calibri" pitchFamily="34" charset="0"/>
              </a:rPr>
              <a:t>Art</a:t>
            </a:r>
            <a:r>
              <a:rPr lang="pt-BR" sz="1200" b="1" dirty="0">
                <a:latin typeface="Calibri" pitchFamily="34" charset="0"/>
                <a:cs typeface="Calibri" pitchFamily="34" charset="0"/>
              </a:rPr>
              <a:t>. 304</a:t>
            </a:r>
            <a:r>
              <a:rPr lang="pt-PT" sz="1200" b="1" baseline="30000" dirty="0"/>
              <a:t> 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79046" y="1300821"/>
            <a:ext cx="1071570" cy="18000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>
                <a:latin typeface="Calibri" pitchFamily="34" charset="0"/>
                <a:cs typeface="Calibri" pitchFamily="34" charset="0"/>
              </a:rPr>
              <a:t>Art</a:t>
            </a:r>
            <a:r>
              <a:rPr lang="pt-BR" sz="1200" b="1" dirty="0">
                <a:latin typeface="Calibri" pitchFamily="34" charset="0"/>
                <a:cs typeface="Calibri" pitchFamily="34" charset="0"/>
              </a:rPr>
              <a:t>. 305</a:t>
            </a:r>
            <a:r>
              <a:rPr lang="pt-PT" sz="1200" b="1" baseline="30000" dirty="0"/>
              <a:t> 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79046" y="1863742"/>
            <a:ext cx="1071570" cy="18000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>
                <a:latin typeface="Calibri" pitchFamily="34" charset="0"/>
                <a:cs typeface="Calibri" pitchFamily="34" charset="0"/>
              </a:rPr>
              <a:t>Art</a:t>
            </a:r>
            <a:r>
              <a:rPr lang="pt-BR" sz="1200" b="1" dirty="0">
                <a:latin typeface="Calibri" pitchFamily="34" charset="0"/>
                <a:cs typeface="Calibri" pitchFamily="34" charset="0"/>
              </a:rPr>
              <a:t>. 307</a:t>
            </a:r>
            <a:r>
              <a:rPr lang="pt-PT" sz="1200" b="1" baseline="30000" dirty="0"/>
              <a:t> 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7143768" y="1391111"/>
            <a:ext cx="1866912" cy="35719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6600"/>
                </a:solidFill>
              </a:rPr>
              <a:t>6 meses a 1 ano </a:t>
            </a:r>
            <a:r>
              <a:rPr lang="pt-BR" sz="1600" baseline="30000" dirty="0">
                <a:solidFill>
                  <a:srgbClr val="006600"/>
                </a:solidFill>
              </a:rPr>
              <a:t>Det</a:t>
            </a:r>
            <a:endParaRPr lang="pt-BR" sz="1600" dirty="0">
              <a:solidFill>
                <a:srgbClr val="006600"/>
              </a:solidFill>
            </a:endParaRPr>
          </a:p>
        </p:txBody>
      </p:sp>
      <p:sp>
        <p:nvSpPr>
          <p:cNvPr id="29" name="Retângulo 28"/>
          <p:cNvSpPr/>
          <p:nvPr/>
        </p:nvSpPr>
        <p:spPr>
          <a:xfrm>
            <a:off x="7143768" y="814564"/>
            <a:ext cx="1866912" cy="35719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6600"/>
                </a:solidFill>
              </a:rPr>
              <a:t>6 meses a 1 ano </a:t>
            </a:r>
            <a:r>
              <a:rPr lang="pt-BR" sz="1600" baseline="30000" dirty="0">
                <a:solidFill>
                  <a:srgbClr val="006600"/>
                </a:solidFill>
              </a:rPr>
              <a:t>Det</a:t>
            </a:r>
            <a:endParaRPr lang="pt-BR" sz="1600" dirty="0">
              <a:solidFill>
                <a:srgbClr val="006600"/>
              </a:solidFill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7143768" y="3713917"/>
            <a:ext cx="1866912" cy="35719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6600"/>
                </a:solidFill>
              </a:rPr>
              <a:t>6 meses a 1 ano </a:t>
            </a:r>
            <a:r>
              <a:rPr lang="pt-BR" sz="1600" baseline="30000" dirty="0">
                <a:solidFill>
                  <a:srgbClr val="006600"/>
                </a:solidFill>
              </a:rPr>
              <a:t>Det</a:t>
            </a:r>
            <a:endParaRPr lang="pt-BR" sz="1600" dirty="0">
              <a:solidFill>
                <a:srgbClr val="006600"/>
              </a:solidFill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7143768" y="3120751"/>
            <a:ext cx="1866912" cy="35719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6600"/>
                </a:solidFill>
              </a:rPr>
              <a:t>6 meses a 1 ano </a:t>
            </a:r>
            <a:r>
              <a:rPr lang="pt-BR" sz="1600" baseline="30000" dirty="0">
                <a:solidFill>
                  <a:srgbClr val="006600"/>
                </a:solidFill>
              </a:rPr>
              <a:t>Det</a:t>
            </a:r>
            <a:endParaRPr lang="pt-BR" sz="1600" dirty="0">
              <a:solidFill>
                <a:srgbClr val="006600"/>
              </a:solidFill>
            </a:endParaRPr>
          </a:p>
        </p:txBody>
      </p:sp>
      <p:sp>
        <p:nvSpPr>
          <p:cNvPr id="32" name="Retângulo 31"/>
          <p:cNvSpPr/>
          <p:nvPr/>
        </p:nvSpPr>
        <p:spPr>
          <a:xfrm>
            <a:off x="7143768" y="2544204"/>
            <a:ext cx="1866912" cy="35719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6600"/>
                </a:solidFill>
              </a:rPr>
              <a:t>6 meses a 1 ano </a:t>
            </a:r>
            <a:r>
              <a:rPr lang="pt-BR" sz="1600" baseline="30000" dirty="0">
                <a:solidFill>
                  <a:srgbClr val="006600"/>
                </a:solidFill>
              </a:rPr>
              <a:t>Det</a:t>
            </a:r>
            <a:endParaRPr lang="pt-BR" sz="1600" dirty="0">
              <a:solidFill>
                <a:srgbClr val="006600"/>
              </a:solidFill>
            </a:endParaRPr>
          </a:p>
        </p:txBody>
      </p:sp>
      <p:sp>
        <p:nvSpPr>
          <p:cNvPr id="33" name="Retângulo 32"/>
          <p:cNvSpPr/>
          <p:nvPr/>
        </p:nvSpPr>
        <p:spPr>
          <a:xfrm>
            <a:off x="7143768" y="4299758"/>
            <a:ext cx="1866912" cy="35719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6600"/>
                </a:solidFill>
              </a:rPr>
              <a:t>6 meses a 1 ano </a:t>
            </a:r>
            <a:r>
              <a:rPr lang="pt-BR" sz="1600" baseline="30000" dirty="0">
                <a:solidFill>
                  <a:srgbClr val="006600"/>
                </a:solidFill>
              </a:rPr>
              <a:t>Det</a:t>
            </a:r>
            <a:endParaRPr lang="pt-BR" sz="1600" dirty="0">
              <a:solidFill>
                <a:srgbClr val="006600"/>
              </a:solidFill>
            </a:endParaRPr>
          </a:p>
        </p:txBody>
      </p:sp>
      <p:sp>
        <p:nvSpPr>
          <p:cNvPr id="34" name="Retângulo 33"/>
          <p:cNvSpPr/>
          <p:nvPr/>
        </p:nvSpPr>
        <p:spPr>
          <a:xfrm>
            <a:off x="71406" y="2436220"/>
            <a:ext cx="1071570" cy="18000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latin typeface="Calibri" pitchFamily="34" charset="0"/>
                <a:cs typeface="Calibri" pitchFamily="34" charset="0"/>
              </a:rPr>
              <a:t>Art. 309</a:t>
            </a:r>
            <a:r>
              <a:rPr lang="pt-PT" sz="1200" b="1" baseline="30000" dirty="0"/>
              <a:t> 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71406" y="3025814"/>
            <a:ext cx="1071570" cy="18000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latin typeface="Calibri" pitchFamily="34" charset="0"/>
                <a:cs typeface="Calibri" pitchFamily="34" charset="0"/>
              </a:rPr>
              <a:t>Art. 310</a:t>
            </a:r>
            <a:r>
              <a:rPr lang="pt-PT" sz="1200" b="1" baseline="30000" dirty="0"/>
              <a:t> 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Retângulo 35"/>
          <p:cNvSpPr/>
          <p:nvPr/>
        </p:nvSpPr>
        <p:spPr>
          <a:xfrm>
            <a:off x="71406" y="3605354"/>
            <a:ext cx="1071570" cy="18000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latin typeface="Calibri" pitchFamily="34" charset="0"/>
                <a:cs typeface="Calibri" pitchFamily="34" charset="0"/>
              </a:rPr>
              <a:t>Art. 311</a:t>
            </a:r>
            <a:r>
              <a:rPr lang="pt-PT" sz="1200" b="1" baseline="30000" dirty="0"/>
              <a:t> 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7" name="Retângulo 36"/>
          <p:cNvSpPr/>
          <p:nvPr/>
        </p:nvSpPr>
        <p:spPr>
          <a:xfrm>
            <a:off x="71406" y="4191195"/>
            <a:ext cx="1071570" cy="18000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latin typeface="Calibri" pitchFamily="34" charset="0"/>
                <a:cs typeface="Calibri" pitchFamily="34" charset="0"/>
              </a:rPr>
              <a:t>Art. 312</a:t>
            </a:r>
            <a:r>
              <a:rPr lang="pt-PT" sz="1200" b="1" baseline="30000" dirty="0"/>
              <a:t> </a:t>
            </a:r>
            <a:endParaRPr lang="pt-BR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8" name="Retângulo 37"/>
          <p:cNvSpPr/>
          <p:nvPr/>
        </p:nvSpPr>
        <p:spPr>
          <a:xfrm>
            <a:off x="7129605" y="4956142"/>
            <a:ext cx="2014396" cy="1873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50" b="1" dirty="0">
                <a:solidFill>
                  <a:schemeClr val="tx1"/>
                </a:solidFill>
              </a:rPr>
              <a:t>CTB – Capítulo XIX Seção II</a:t>
            </a:r>
          </a:p>
        </p:txBody>
      </p:sp>
    </p:spTree>
    <p:extLst>
      <p:ext uri="{BB962C8B-B14F-4D97-AF65-F5344CB8AC3E}">
        <p14:creationId xmlns:p14="http://schemas.microsoft.com/office/powerpoint/2010/main" val="95345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0" grpId="0" animBg="1"/>
      <p:bldP spid="14" grpId="0" animBg="1"/>
      <p:bldP spid="16" grpId="0" animBg="1"/>
      <p:bldP spid="17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166065" y="1203598"/>
            <a:ext cx="8786437" cy="1726772"/>
            <a:chOff x="179511" y="1203597"/>
            <a:chExt cx="8786437" cy="2181186"/>
          </a:xfrm>
        </p:grpSpPr>
        <p:sp>
          <p:nvSpPr>
            <p:cNvPr id="3" name="Retângulo de cantos arredondados 2"/>
            <p:cNvSpPr/>
            <p:nvPr/>
          </p:nvSpPr>
          <p:spPr>
            <a:xfrm>
              <a:off x="179511" y="1203598"/>
              <a:ext cx="8786437" cy="2181185"/>
            </a:xfrm>
            <a:prstGeom prst="roundRect">
              <a:avLst>
                <a:gd name="adj" fmla="val 6154"/>
              </a:avLst>
            </a:prstGeom>
            <a:gradFill>
              <a:gsLst>
                <a:gs pos="0">
                  <a:schemeClr val="accent2">
                    <a:tint val="50000"/>
                    <a:satMod val="300000"/>
                  </a:schemeClr>
                </a:gs>
                <a:gs pos="8000">
                  <a:schemeClr val="accent2">
                    <a:tint val="37000"/>
                    <a:satMod val="300000"/>
                  </a:schemeClr>
                </a:gs>
                <a:gs pos="43000">
                  <a:schemeClr val="accent2">
                    <a:tint val="15000"/>
                    <a:satMod val="350000"/>
                  </a:schemeClr>
                </a:gs>
              </a:gsLst>
            </a:gra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lnSpc>
                  <a:spcPts val="2800"/>
                </a:lnSpc>
              </a:pPr>
              <a:r>
                <a:rPr lang="pt-BR" sz="2000" dirty="0"/>
                <a:t>Para os crimes de trânsito </a:t>
              </a:r>
              <a:r>
                <a:rPr lang="pt-BR" sz="750" dirty="0"/>
                <a:t>(302 a 312)</a:t>
              </a:r>
              <a:r>
                <a:rPr lang="pt-BR" sz="2000" dirty="0"/>
                <a:t>, quando o juiz aplicar a substituição de </a:t>
              </a:r>
              <a:r>
                <a:rPr lang="pt-BR" sz="2000" u="sng" dirty="0"/>
                <a:t>pena privativa de liberdade</a:t>
              </a:r>
              <a:r>
                <a:rPr lang="pt-BR" sz="2000" dirty="0"/>
                <a:t> por </a:t>
              </a:r>
              <a:r>
                <a:rPr lang="pt-BR" sz="2000" u="sng" dirty="0"/>
                <a:t>pena restritiva de direitos</a:t>
              </a:r>
              <a:r>
                <a:rPr lang="pt-BR" sz="2000" dirty="0"/>
                <a:t>, esta deverá ser de </a:t>
              </a:r>
              <a:r>
                <a:rPr lang="pt-BR" sz="2000" dirty="0">
                  <a:solidFill>
                    <a:srgbClr val="008000"/>
                  </a:solidFill>
                </a:rPr>
                <a:t>prestação de serviço à comunidade</a:t>
              </a:r>
              <a:r>
                <a:rPr lang="pt-BR" sz="2000" dirty="0"/>
                <a:t> ou a entidades públicas, em uma das seguintes atividades:</a:t>
              </a:r>
              <a:endParaRPr lang="pt-BR" sz="2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" name="Retângulo 4"/>
            <p:cNvSpPr/>
            <p:nvPr/>
          </p:nvSpPr>
          <p:spPr>
            <a:xfrm>
              <a:off x="179511" y="1203597"/>
              <a:ext cx="1368152" cy="28803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500" b="1" dirty="0">
                  <a:solidFill>
                    <a:schemeClr val="bg1"/>
                  </a:solidFill>
                  <a:latin typeface="Calibri" pitchFamily="34" charset="0"/>
                  <a:cs typeface="Calibri" pitchFamily="34" charset="0"/>
                </a:rPr>
                <a:t>CTB art. 312A</a:t>
              </a:r>
            </a:p>
          </p:txBody>
        </p:sp>
      </p:grpSp>
      <p:sp>
        <p:nvSpPr>
          <p:cNvPr id="11" name="CaixaDeTexto 10"/>
          <p:cNvSpPr txBox="1"/>
          <p:nvPr/>
        </p:nvSpPr>
        <p:spPr>
          <a:xfrm>
            <a:off x="166065" y="3057345"/>
            <a:ext cx="878643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700" dirty="0"/>
              <a:t>I - trabalho em equipes de resgate do </a:t>
            </a:r>
            <a:r>
              <a:rPr lang="pt-BR" sz="1700" dirty="0">
                <a:solidFill>
                  <a:srgbClr val="FF0000"/>
                </a:solidFill>
              </a:rPr>
              <a:t>COBOM</a:t>
            </a:r>
            <a:r>
              <a:rPr lang="pt-BR" sz="1700" dirty="0"/>
              <a:t> e em outras unidades móveis de </a:t>
            </a:r>
            <a:r>
              <a:rPr lang="pt-BR" sz="1700" dirty="0" smtClean="0"/>
              <a:t>salvamento;</a:t>
            </a:r>
          </a:p>
          <a:p>
            <a:pPr>
              <a:spcAft>
                <a:spcPts val="1200"/>
              </a:spcAft>
            </a:pPr>
            <a:r>
              <a:rPr lang="pt-BR" sz="1700" dirty="0" smtClean="0"/>
              <a:t>II </a:t>
            </a:r>
            <a:r>
              <a:rPr lang="pt-BR" sz="1700" dirty="0"/>
              <a:t>- trabalho em </a:t>
            </a:r>
            <a:r>
              <a:rPr lang="pt-BR" sz="1700" dirty="0">
                <a:solidFill>
                  <a:srgbClr val="FF0000"/>
                </a:solidFill>
              </a:rPr>
              <a:t>pronto-socorro</a:t>
            </a:r>
            <a:r>
              <a:rPr lang="pt-BR" sz="1700" dirty="0"/>
              <a:t> de hospitais que recebem vítimas de acidente de </a:t>
            </a:r>
            <a:r>
              <a:rPr lang="pt-BR" sz="1700" dirty="0" smtClean="0"/>
              <a:t>trânsito;</a:t>
            </a:r>
          </a:p>
          <a:p>
            <a:pPr>
              <a:spcAft>
                <a:spcPts val="1200"/>
              </a:spcAft>
            </a:pPr>
            <a:r>
              <a:rPr lang="pt-BR" sz="1700" dirty="0" smtClean="0"/>
              <a:t>III </a:t>
            </a:r>
            <a:r>
              <a:rPr lang="pt-BR" sz="1700" dirty="0"/>
              <a:t>- trabalho em </a:t>
            </a:r>
            <a:r>
              <a:rPr lang="pt-BR" sz="1700" dirty="0">
                <a:solidFill>
                  <a:srgbClr val="FF0000"/>
                </a:solidFill>
              </a:rPr>
              <a:t>clínicas</a:t>
            </a:r>
            <a:r>
              <a:rPr lang="pt-BR" sz="1700" dirty="0"/>
              <a:t> ou instituições especializadas na recuperação de acidentados de </a:t>
            </a:r>
            <a:r>
              <a:rPr lang="pt-BR" sz="1700" dirty="0" smtClean="0"/>
              <a:t>trânsito;</a:t>
            </a:r>
          </a:p>
          <a:p>
            <a:pPr>
              <a:spcAft>
                <a:spcPts val="1200"/>
              </a:spcAft>
            </a:pPr>
            <a:r>
              <a:rPr lang="pt-BR" sz="1700" dirty="0" smtClean="0"/>
              <a:t>IV </a:t>
            </a:r>
            <a:r>
              <a:rPr lang="pt-BR" sz="1700" dirty="0"/>
              <a:t>- outras </a:t>
            </a:r>
            <a:r>
              <a:rPr lang="pt-BR" sz="1700" dirty="0">
                <a:solidFill>
                  <a:srgbClr val="FF0000"/>
                </a:solidFill>
              </a:rPr>
              <a:t>atividades relacionadas ao resgate</a:t>
            </a:r>
            <a:r>
              <a:rPr lang="pt-BR" sz="1700" dirty="0"/>
              <a:t>, atendimento e recuperação de vítimas de acidentes de trânsito.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7129605" y="4956142"/>
            <a:ext cx="2014396" cy="1873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50" b="1" dirty="0">
                <a:solidFill>
                  <a:schemeClr val="tx1"/>
                </a:solidFill>
              </a:rPr>
              <a:t>CTB – Capítulo XIX Seção II (Lei 13.281)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14" name="CaixaDeTexto 13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Crimes de Trânsito </a:t>
            </a:r>
            <a:r>
              <a:rPr lang="pt-BR" sz="1000" b="1" dirty="0" smtClean="0"/>
              <a:t>(Cap. XIX Seção II do CTB)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2924149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 descr="Carro multado velocida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941" y="1008415"/>
            <a:ext cx="2285984" cy="19228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etângulo 7"/>
          <p:cNvSpPr/>
          <p:nvPr/>
        </p:nvSpPr>
        <p:spPr>
          <a:xfrm>
            <a:off x="149636" y="1214428"/>
            <a:ext cx="3390320" cy="2857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Especificação</a:t>
            </a:r>
          </a:p>
        </p:txBody>
      </p:sp>
      <p:sp>
        <p:nvSpPr>
          <p:cNvPr id="10" name="Retângulo 9"/>
          <p:cNvSpPr/>
          <p:nvPr/>
        </p:nvSpPr>
        <p:spPr>
          <a:xfrm>
            <a:off x="3988310" y="1214428"/>
            <a:ext cx="2600994" cy="2857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Gravidade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145837" y="1643056"/>
            <a:ext cx="3390320" cy="28575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Acima da Máxima em até 20%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3989116" y="1632424"/>
            <a:ext cx="2600994" cy="28575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Média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145837" y="2071684"/>
            <a:ext cx="3390320" cy="28575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Acima da Máxima entre 20% e 50%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3989116" y="2061052"/>
            <a:ext cx="2600994" cy="28575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Grave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142844" y="2500312"/>
            <a:ext cx="3390320" cy="28575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Acima da Máxima em + de 50%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3986123" y="2489680"/>
            <a:ext cx="2600994" cy="28575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50" b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Gravíssima x3 / Suspensão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285721" y="3087097"/>
            <a:ext cx="4357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Calibri" pitchFamily="34" charset="0"/>
                <a:cs typeface="Calibri" pitchFamily="34" charset="0"/>
              </a:rPr>
              <a:t>Exemplo: </a:t>
            </a:r>
            <a:r>
              <a:rPr lang="pt-BR" b="1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Velocidade Máxima 80 km/h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357158" y="3500444"/>
            <a:ext cx="1071570" cy="120600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CaixaDeTexto 22"/>
          <p:cNvSpPr txBox="1"/>
          <p:nvPr/>
        </p:nvSpPr>
        <p:spPr>
          <a:xfrm>
            <a:off x="642910" y="3470671"/>
            <a:ext cx="4286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>
                <a:latin typeface="Calibri" pitchFamily="34" charset="0"/>
                <a:cs typeface="Calibri" pitchFamily="34" charset="0"/>
              </a:rPr>
              <a:t>80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21301" y="3695619"/>
            <a:ext cx="7858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>
                <a:latin typeface="Calibri" pitchFamily="34" charset="0"/>
                <a:cs typeface="Calibri" pitchFamily="34" charset="0"/>
              </a:rPr>
              <a:t>x </a:t>
            </a:r>
            <a:r>
              <a:rPr lang="pt-BR" sz="1500" b="1" u="sng" dirty="0">
                <a:latin typeface="Calibri" pitchFamily="34" charset="0"/>
                <a:cs typeface="Calibri" pitchFamily="34" charset="0"/>
              </a:rPr>
              <a:t>20</a:t>
            </a:r>
            <a:r>
              <a:rPr lang="pt-BR" sz="1500" b="1" dirty="0">
                <a:latin typeface="Calibri" pitchFamily="34" charset="0"/>
                <a:cs typeface="Calibri" pitchFamily="34" charset="0"/>
              </a:rPr>
              <a:t>%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45903" y="3941832"/>
            <a:ext cx="4286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>
                <a:latin typeface="Calibri" pitchFamily="34" charset="0"/>
                <a:cs typeface="Calibri" pitchFamily="34" charset="0"/>
              </a:rPr>
              <a:t>16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510668" y="4127239"/>
            <a:ext cx="7858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>
                <a:latin typeface="Calibri" pitchFamily="34" charset="0"/>
                <a:cs typeface="Calibri" pitchFamily="34" charset="0"/>
              </a:rPr>
              <a:t>+ </a:t>
            </a:r>
            <a:r>
              <a:rPr lang="pt-BR" sz="1500" b="1" u="sng" dirty="0">
                <a:latin typeface="Calibri" pitchFamily="34" charset="0"/>
                <a:cs typeface="Calibri" pitchFamily="34" charset="0"/>
              </a:rPr>
              <a:t>80</a:t>
            </a:r>
            <a:endParaRPr lang="pt-BR" sz="15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645903" y="4357701"/>
            <a:ext cx="7858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>
                <a:latin typeface="Calibri" pitchFamily="34" charset="0"/>
                <a:cs typeface="Calibri" pitchFamily="34" charset="0"/>
              </a:rPr>
              <a:t>96 k/h</a:t>
            </a:r>
          </a:p>
        </p:txBody>
      </p:sp>
      <p:sp>
        <p:nvSpPr>
          <p:cNvPr id="28" name="Retângulo 27"/>
          <p:cNvSpPr/>
          <p:nvPr/>
        </p:nvSpPr>
        <p:spPr>
          <a:xfrm>
            <a:off x="1714480" y="3502570"/>
            <a:ext cx="1071570" cy="120600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1997239" y="3472797"/>
            <a:ext cx="4286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>
                <a:latin typeface="Calibri" pitchFamily="34" charset="0"/>
                <a:cs typeface="Calibri" pitchFamily="34" charset="0"/>
              </a:rPr>
              <a:t>80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1875630" y="3697744"/>
            <a:ext cx="7858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>
                <a:latin typeface="Calibri" pitchFamily="34" charset="0"/>
                <a:cs typeface="Calibri" pitchFamily="34" charset="0"/>
              </a:rPr>
              <a:t>x </a:t>
            </a:r>
            <a:r>
              <a:rPr lang="pt-BR" sz="1500" b="1" u="sng" dirty="0">
                <a:latin typeface="Calibri" pitchFamily="34" charset="0"/>
                <a:cs typeface="Calibri" pitchFamily="34" charset="0"/>
              </a:rPr>
              <a:t>50</a:t>
            </a:r>
            <a:r>
              <a:rPr lang="pt-BR" sz="1500" b="1" dirty="0">
                <a:latin typeface="Calibri" pitchFamily="34" charset="0"/>
                <a:cs typeface="Calibri" pitchFamily="34" charset="0"/>
              </a:rPr>
              <a:t>%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2000232" y="3943957"/>
            <a:ext cx="42862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>
                <a:latin typeface="Calibri" pitchFamily="34" charset="0"/>
                <a:cs typeface="Calibri" pitchFamily="34" charset="0"/>
              </a:rPr>
              <a:t>40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864997" y="4129365"/>
            <a:ext cx="7858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>
                <a:latin typeface="Calibri" pitchFamily="34" charset="0"/>
                <a:cs typeface="Calibri" pitchFamily="34" charset="0"/>
              </a:rPr>
              <a:t>+ </a:t>
            </a:r>
            <a:r>
              <a:rPr lang="pt-BR" sz="1500" b="1" u="sng" dirty="0">
                <a:latin typeface="Calibri" pitchFamily="34" charset="0"/>
                <a:cs typeface="Calibri" pitchFamily="34" charset="0"/>
              </a:rPr>
              <a:t>80</a:t>
            </a:r>
            <a:endParaRPr lang="pt-BR" sz="15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1928794" y="4359826"/>
            <a:ext cx="92869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>
                <a:latin typeface="Calibri" pitchFamily="34" charset="0"/>
                <a:cs typeface="Calibri" pitchFamily="34" charset="0"/>
              </a:rPr>
              <a:t>120 k/h</a:t>
            </a:r>
          </a:p>
        </p:txBody>
      </p:sp>
      <p:sp>
        <p:nvSpPr>
          <p:cNvPr id="34" name="Retângulo 33"/>
          <p:cNvSpPr/>
          <p:nvPr/>
        </p:nvSpPr>
        <p:spPr>
          <a:xfrm>
            <a:off x="3071802" y="3500444"/>
            <a:ext cx="5388630" cy="1206000"/>
          </a:xfrm>
          <a:prstGeom prst="rect">
            <a:avLst/>
          </a:prstGeom>
          <a:solidFill>
            <a:srgbClr val="006600">
              <a:alpha val="20000"/>
            </a:srgb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pt-BR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►Até </a:t>
            </a:r>
            <a:r>
              <a:rPr lang="pt-BR" b="1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96 km/h = Média</a:t>
            </a:r>
          </a:p>
          <a:p>
            <a:pPr>
              <a:lnSpc>
                <a:spcPct val="150000"/>
              </a:lnSpc>
            </a:pPr>
            <a:r>
              <a:rPr lang="pt-BR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►De </a:t>
            </a:r>
            <a:r>
              <a:rPr lang="pt-BR" b="1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97 até 120 km/h = Grave</a:t>
            </a:r>
          </a:p>
          <a:p>
            <a:pPr>
              <a:lnSpc>
                <a:spcPct val="150000"/>
              </a:lnSpc>
            </a:pPr>
            <a:r>
              <a:rPr lang="pt-BR" b="1" i="1" dirty="0" smtClean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►Acima </a:t>
            </a:r>
            <a:r>
              <a:rPr lang="pt-BR" b="1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de 120 km/h = Gravíssima (x3) + Suspensão</a:t>
            </a:r>
          </a:p>
        </p:txBody>
      </p:sp>
      <p:sp>
        <p:nvSpPr>
          <p:cNvPr id="37" name="Seta para a direita 36"/>
          <p:cNvSpPr/>
          <p:nvPr/>
        </p:nvSpPr>
        <p:spPr>
          <a:xfrm>
            <a:off x="3614728" y="1643056"/>
            <a:ext cx="285752" cy="285752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8" name="Seta para a direita 37"/>
          <p:cNvSpPr/>
          <p:nvPr/>
        </p:nvSpPr>
        <p:spPr>
          <a:xfrm>
            <a:off x="3614728" y="2071684"/>
            <a:ext cx="285752" cy="285752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Seta para a direita 38"/>
          <p:cNvSpPr/>
          <p:nvPr/>
        </p:nvSpPr>
        <p:spPr>
          <a:xfrm>
            <a:off x="3614728" y="2500312"/>
            <a:ext cx="285752" cy="285752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40" name="CaixaDeTexto 39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Velocidade - Cálculo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166881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1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  <p:bldP spid="37" grpId="0" animBg="1"/>
      <p:bldP spid="38" grpId="0" animBg="1"/>
      <p:bldP spid="3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14"/>
          <p:cNvSpPr txBox="1">
            <a:spLocks/>
          </p:cNvSpPr>
          <p:nvPr/>
        </p:nvSpPr>
        <p:spPr>
          <a:xfrm>
            <a:off x="214282" y="1285866"/>
            <a:ext cx="8429684" cy="3538347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/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800" b="1" dirty="0" smtClean="0">
                <a:latin typeface="Calibri" pitchFamily="34" charset="0"/>
                <a:cs typeface="Calibri" pitchFamily="34" charset="0"/>
              </a:rPr>
              <a:t>01 – Marque a alternativa FALSA:</a:t>
            </a:r>
          </a:p>
          <a:p>
            <a:pPr marL="514350" lvl="0" indent="-514350" algn="just">
              <a:spcBef>
                <a:spcPts val="600"/>
              </a:spcBef>
              <a:buClr>
                <a:schemeClr val="accent1"/>
              </a:buClr>
              <a:buSzPct val="70000"/>
            </a:pPr>
            <a:endParaRPr kumimoji="0" lang="pt-BR" sz="1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1950" lvl="0" indent="-3619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kumimoji="0" lang="pt-B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a)</a:t>
            </a: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pt-BR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São competentes para lavrar um Auto de Infração de Trânsito (AIT) o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Servidor civil e o Policial Militar.</a:t>
            </a:r>
            <a:endParaRPr kumimoji="0" lang="pt-BR" sz="24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0363" lvl="0" indent="-360363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O AIT poderá ser arquivado, caso não seja emitida sua notificação no prazo máximo de 30 dias.</a:t>
            </a:r>
          </a:p>
          <a:p>
            <a:pPr marL="360363" lvl="0" indent="-36036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</a:t>
            </a: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</a:rPr>
              <a:t>)</a:t>
            </a:r>
            <a:r>
              <a:rPr lang="pt-BR" sz="2400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O agente de trânsito não poderá efetuar a lavratura do AIT sem a assinatura e o prontuário do condutor infrator.</a:t>
            </a:r>
            <a:endParaRPr lang="pt-BR" sz="2400" dirty="0" smtClean="0">
              <a:latin typeface="Calibri" pitchFamily="34" charset="0"/>
            </a:endParaRPr>
          </a:p>
          <a:p>
            <a:pPr marL="514350" lvl="0" indent="-51435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O AIT poderá ser arquivado por inconsistência.</a:t>
            </a:r>
            <a:endParaRPr lang="pt-BR" sz="2400" dirty="0" smtClean="0">
              <a:latin typeface="Calibri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244900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14"/>
          <p:cNvSpPr txBox="1">
            <a:spLocks/>
          </p:cNvSpPr>
          <p:nvPr/>
        </p:nvSpPr>
        <p:spPr>
          <a:xfrm>
            <a:off x="214282" y="1285866"/>
            <a:ext cx="8429684" cy="3538347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600" b="1" dirty="0" smtClean="0">
                <a:latin typeface="Calibri" pitchFamily="34" charset="0"/>
                <a:cs typeface="Calibri" pitchFamily="34" charset="0"/>
              </a:rPr>
              <a:t>02 – A responsabilidade pecuniária será sempre atribuída:</a:t>
            </a:r>
          </a:p>
          <a:p>
            <a:pPr marL="514350" lvl="0" indent="-514350" algn="just">
              <a:spcBef>
                <a:spcPts val="600"/>
              </a:spcBef>
              <a:buClr>
                <a:schemeClr val="accent1"/>
              </a:buClr>
              <a:buSzPct val="70000"/>
            </a:pPr>
            <a:endParaRPr kumimoji="0" lang="pt-BR" sz="1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1950" lvl="0" indent="-3619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kumimoji="0" lang="pt-B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a)</a:t>
            </a: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Ao Proprietário</a:t>
            </a:r>
            <a:r>
              <a:rPr kumimoji="0" lang="pt-BR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do veículo.</a:t>
            </a:r>
          </a:p>
          <a:p>
            <a:pPr marL="360363" lvl="0" indent="-360363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Ao Condutor do veículo.</a:t>
            </a:r>
          </a:p>
          <a:p>
            <a:pPr marL="360363" lvl="0" indent="-36036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</a:t>
            </a: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</a:rPr>
              <a:t>)</a:t>
            </a:r>
            <a:r>
              <a:rPr lang="pt-BR" sz="2400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À Transportadora. </a:t>
            </a:r>
            <a:endParaRPr lang="pt-BR" sz="2400" dirty="0" smtClean="0">
              <a:latin typeface="Calibri" pitchFamily="34" charset="0"/>
            </a:endParaRPr>
          </a:p>
          <a:p>
            <a:pPr marL="514350" lvl="0" indent="-51435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Ao Embarcador.</a:t>
            </a:r>
            <a:endParaRPr lang="pt-BR" sz="2400" dirty="0" smtClean="0">
              <a:latin typeface="Calibri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401986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14"/>
          <p:cNvSpPr txBox="1">
            <a:spLocks/>
          </p:cNvSpPr>
          <p:nvPr/>
        </p:nvSpPr>
        <p:spPr>
          <a:xfrm>
            <a:off x="214282" y="1285866"/>
            <a:ext cx="8429684" cy="3538347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600" b="1" dirty="0" smtClean="0">
                <a:latin typeface="Calibri" pitchFamily="34" charset="0"/>
                <a:cs typeface="Calibri" pitchFamily="34" charset="0"/>
              </a:rPr>
              <a:t>03 – Marque qual das alternativas não corresponde a uma Medida Administrativa:</a:t>
            </a:r>
          </a:p>
          <a:p>
            <a:pPr marL="514350" lvl="0" indent="-514350" algn="just">
              <a:spcBef>
                <a:spcPts val="600"/>
              </a:spcBef>
              <a:buClr>
                <a:schemeClr val="accent1"/>
              </a:buClr>
              <a:buSzPct val="70000"/>
            </a:pPr>
            <a:endParaRPr kumimoji="0" lang="pt-BR" sz="1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1950" lvl="0" indent="-3619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kumimoji="0" lang="pt-B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a)</a:t>
            </a: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Retenção</a:t>
            </a:r>
            <a:r>
              <a:rPr kumimoji="0" lang="pt-BR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do Veículo.</a:t>
            </a:r>
          </a:p>
          <a:p>
            <a:pPr marL="360363" lvl="0" indent="-360363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Remoção do Veículo.</a:t>
            </a:r>
          </a:p>
          <a:p>
            <a:pPr marL="360363" lvl="0" indent="-36036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</a:t>
            </a: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</a:rPr>
              <a:t>)</a:t>
            </a:r>
            <a:r>
              <a:rPr lang="pt-BR" sz="2400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pt-BR" sz="2400" dirty="0" smtClean="0">
                <a:latin typeface="Calibri" pitchFamily="34" charset="0"/>
              </a:rPr>
              <a:t>Multa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.</a:t>
            </a:r>
            <a:endParaRPr lang="pt-BR" sz="2400" dirty="0" smtClean="0">
              <a:latin typeface="Calibri" pitchFamily="34" charset="0"/>
            </a:endParaRPr>
          </a:p>
          <a:p>
            <a:pPr marL="514350" lvl="0" indent="-51435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Transbordo do excesso de carga.</a:t>
            </a:r>
            <a:endParaRPr lang="pt-BR" sz="2400" dirty="0" smtClean="0">
              <a:latin typeface="Calibri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62133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14"/>
          <p:cNvSpPr txBox="1">
            <a:spLocks/>
          </p:cNvSpPr>
          <p:nvPr/>
        </p:nvSpPr>
        <p:spPr>
          <a:xfrm>
            <a:off x="214282" y="1285866"/>
            <a:ext cx="8429684" cy="3538347"/>
          </a:xfrm>
          <a:prstGeom prst="rect">
            <a:avLst/>
          </a:prstGeom>
        </p:spPr>
        <p:txBody>
          <a:bodyPr vert="horz">
            <a:normAutofit lnSpcReduction="10000"/>
          </a:bodyPr>
          <a:lstStyle/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600" b="1" dirty="0" smtClean="0">
                <a:latin typeface="Calibri" pitchFamily="34" charset="0"/>
                <a:cs typeface="Calibri" pitchFamily="34" charset="0"/>
              </a:rPr>
              <a:t>04 – Assinale a alternativa VERDADEIRA.</a:t>
            </a:r>
          </a:p>
          <a:p>
            <a:pPr marL="514350" lvl="0" indent="-514350" algn="just">
              <a:spcBef>
                <a:spcPts val="600"/>
              </a:spcBef>
              <a:buClr>
                <a:schemeClr val="accent1"/>
              </a:buClr>
              <a:buSzPct val="70000"/>
            </a:pPr>
            <a:endParaRPr kumimoji="0" lang="pt-BR" sz="1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1950" lvl="0" indent="-3619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kumimoji="0" lang="pt-B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a)</a:t>
            </a: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A multa</a:t>
            </a:r>
            <a:r>
              <a:rPr kumimoji="0" lang="pt-BR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poderá ser paga, até a data do vencimento, por 80% do seu valor.</a:t>
            </a:r>
          </a:p>
          <a:p>
            <a:pPr marL="360363" lvl="0" indent="-360363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A notificação de AIT será feita obrigatoriamente via correios.</a:t>
            </a:r>
          </a:p>
          <a:p>
            <a:pPr marL="360363" lvl="0" indent="-36036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</a:t>
            </a: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</a:rPr>
              <a:t>)</a:t>
            </a:r>
            <a:r>
              <a:rPr lang="pt-BR" sz="2400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O auto de infração de trânsito nunca poderá ser arquivado.</a:t>
            </a:r>
            <a:endParaRPr lang="pt-BR" sz="2400" dirty="0" smtClean="0">
              <a:latin typeface="Calibri" pitchFamily="34" charset="0"/>
            </a:endParaRPr>
          </a:p>
          <a:p>
            <a:pPr marL="514350" lvl="0" indent="-51435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Em caso de recurso contra penalidades, o condutor somente poderá recorrer após recolher o valor da multa.</a:t>
            </a:r>
            <a:endParaRPr lang="pt-BR" sz="2400" dirty="0" smtClean="0">
              <a:latin typeface="Calibri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61940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14"/>
          <p:cNvSpPr txBox="1">
            <a:spLocks/>
          </p:cNvSpPr>
          <p:nvPr/>
        </p:nvSpPr>
        <p:spPr>
          <a:xfrm>
            <a:off x="214282" y="1285866"/>
            <a:ext cx="8429684" cy="3538347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400" b="1" dirty="0" smtClean="0">
                <a:latin typeface="Calibri" pitchFamily="34" charset="0"/>
                <a:cs typeface="Calibri" pitchFamily="34" charset="0"/>
              </a:rPr>
              <a:t>05 – Quanto aos prazos do Processo Administrativo, marque a alternativa correta:</a:t>
            </a:r>
          </a:p>
          <a:p>
            <a:pPr marL="514350" lvl="0" indent="-514350" algn="just">
              <a:spcBef>
                <a:spcPts val="600"/>
              </a:spcBef>
              <a:buClr>
                <a:schemeClr val="accent1"/>
              </a:buClr>
              <a:buSzPct val="70000"/>
            </a:pPr>
            <a:endParaRPr kumimoji="0" lang="pt-BR" sz="2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1950" lvl="0" indent="-3619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kumimoji="0" lang="pt-B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a)</a:t>
            </a: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15 dias para a Autoridade</a:t>
            </a:r>
            <a:r>
              <a:rPr kumimoji="0" lang="pt-BR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remeter a Notificação da Autuação.</a:t>
            </a:r>
          </a:p>
          <a:p>
            <a:pPr marL="360363" lvl="0" indent="-360363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30 dias para o Condutor apresentar o “real infrator”.</a:t>
            </a:r>
          </a:p>
          <a:p>
            <a:pPr marL="360363" lvl="0" indent="-36036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</a:t>
            </a: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</a:rPr>
              <a:t>)</a:t>
            </a:r>
            <a:r>
              <a:rPr lang="pt-BR" sz="2400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15 dias para o Condutor apresentar “defesa prévia”.</a:t>
            </a:r>
            <a:endParaRPr lang="pt-BR" sz="2400" dirty="0" smtClean="0">
              <a:latin typeface="Calibri" pitchFamily="34" charset="0"/>
            </a:endParaRPr>
          </a:p>
          <a:p>
            <a:pPr marL="514350" lvl="0" indent="-51435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15 dias para o Condutor remeter Recurso à JARI.</a:t>
            </a:r>
            <a:endParaRPr lang="pt-BR" sz="2400" dirty="0" smtClean="0">
              <a:latin typeface="Calibri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293888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14"/>
          <p:cNvSpPr txBox="1">
            <a:spLocks/>
          </p:cNvSpPr>
          <p:nvPr/>
        </p:nvSpPr>
        <p:spPr>
          <a:xfrm>
            <a:off x="214282" y="1285866"/>
            <a:ext cx="8429684" cy="3538347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400" b="1" dirty="0" smtClean="0">
                <a:latin typeface="Calibri" pitchFamily="34" charset="0"/>
                <a:cs typeface="Calibri" pitchFamily="34" charset="0"/>
              </a:rPr>
              <a:t>06 – Dirigir veículo com habilitação cassada ou suspensa é infração_____________, tendo como penalidade _____________ e medida administrativa_____________.</a:t>
            </a:r>
          </a:p>
          <a:p>
            <a:pPr marL="514350" lvl="0" indent="-514350" algn="just">
              <a:spcBef>
                <a:spcPts val="600"/>
              </a:spcBef>
              <a:buClr>
                <a:schemeClr val="accent1"/>
              </a:buClr>
              <a:buSzPct val="70000"/>
            </a:pPr>
            <a:endParaRPr kumimoji="0" lang="pt-BR" sz="10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1950" lvl="0" indent="-3619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kumimoji="0" lang="pt-BR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a)</a:t>
            </a:r>
            <a:r>
              <a:rPr kumimoji="0" lang="pt-BR" sz="22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lang="pt-BR" sz="2200" dirty="0" smtClean="0">
                <a:latin typeface="Calibri" pitchFamily="34" charset="0"/>
                <a:cs typeface="Calibri" pitchFamily="34" charset="0"/>
              </a:rPr>
              <a:t>Gravíssima; multa (3x); Retenção do veículo.</a:t>
            </a:r>
            <a:endParaRPr kumimoji="0" lang="pt-BR" sz="220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0363" lvl="0" indent="-360363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2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b)</a:t>
            </a:r>
            <a:r>
              <a:rPr lang="pt-BR" sz="22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00" dirty="0" smtClean="0">
                <a:latin typeface="Calibri" pitchFamily="34" charset="0"/>
                <a:cs typeface="Calibri" pitchFamily="34" charset="0"/>
              </a:rPr>
              <a:t>Grave; multa (5x); retenção do veículo.</a:t>
            </a:r>
          </a:p>
          <a:p>
            <a:pPr marL="360363" lvl="0" indent="-36036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2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</a:t>
            </a:r>
            <a:r>
              <a:rPr lang="pt-BR" sz="2200" b="1" dirty="0" smtClean="0">
                <a:solidFill>
                  <a:srgbClr val="FF0000"/>
                </a:solidFill>
                <a:latin typeface="Calibri" pitchFamily="34" charset="0"/>
              </a:rPr>
              <a:t>)</a:t>
            </a:r>
            <a:r>
              <a:rPr lang="pt-BR" sz="2200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pt-BR" sz="2200" dirty="0" smtClean="0">
                <a:latin typeface="Calibri" pitchFamily="34" charset="0"/>
                <a:cs typeface="Calibri" pitchFamily="34" charset="0"/>
              </a:rPr>
              <a:t>Gravíssima; multa (3x); recolhimento da CNH e retenção do veículo.</a:t>
            </a:r>
            <a:endParaRPr lang="pt-BR" sz="2200" dirty="0" smtClean="0">
              <a:latin typeface="Calibri" pitchFamily="34" charset="0"/>
            </a:endParaRPr>
          </a:p>
          <a:p>
            <a:pPr marL="514350" lvl="0" indent="-51435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2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d)</a:t>
            </a:r>
            <a:r>
              <a:rPr lang="pt-BR" sz="220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00" dirty="0" smtClean="0">
                <a:latin typeface="Calibri" pitchFamily="34" charset="0"/>
                <a:cs typeface="Calibri" pitchFamily="34" charset="0"/>
              </a:rPr>
              <a:t>Gravíssima; multa; retenção do veículo.</a:t>
            </a:r>
            <a:endParaRPr lang="pt-BR" sz="2200" dirty="0" smtClean="0">
              <a:latin typeface="Calibri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22357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14"/>
          <p:cNvSpPr txBox="1">
            <a:spLocks/>
          </p:cNvSpPr>
          <p:nvPr/>
        </p:nvSpPr>
        <p:spPr>
          <a:xfrm>
            <a:off x="214282" y="1285866"/>
            <a:ext cx="8429684" cy="3538347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/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800" b="1" dirty="0" smtClean="0">
                <a:latin typeface="Calibri" pitchFamily="34" charset="0"/>
                <a:cs typeface="Calibri" pitchFamily="34" charset="0"/>
              </a:rPr>
              <a:t>07 – Em uma rodovia de pista dupla, sem sinalização regulamentadora de velocidade, um motorista foi flagrado conduzindo seu automóvel a uma velocidade de 130 km/h. Este condutor cometeu uma infração de natureza:</a:t>
            </a:r>
          </a:p>
          <a:p>
            <a:pPr marL="514350" lvl="0" indent="-514350" algn="just">
              <a:spcBef>
                <a:spcPts val="600"/>
              </a:spcBef>
              <a:buClr>
                <a:schemeClr val="accent1"/>
              </a:buClr>
              <a:buSzPct val="70000"/>
            </a:pPr>
            <a:endParaRPr kumimoji="0" lang="pt-BR" sz="1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1950" lvl="0" indent="-3619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kumimoji="0" lang="pt-B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a)</a:t>
            </a: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Grave</a:t>
            </a:r>
            <a:endParaRPr kumimoji="0" lang="pt-BR" sz="24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0363" lvl="0" indent="-360363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Leve</a:t>
            </a:r>
          </a:p>
          <a:p>
            <a:pPr marL="360363" lvl="0" indent="-36036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</a:t>
            </a: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</a:rPr>
              <a:t>)</a:t>
            </a:r>
            <a:r>
              <a:rPr lang="pt-BR" sz="2400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Média</a:t>
            </a:r>
            <a:endParaRPr lang="pt-BR" sz="2400" dirty="0" smtClean="0">
              <a:latin typeface="Calibri" pitchFamily="34" charset="0"/>
            </a:endParaRPr>
          </a:p>
          <a:p>
            <a:pPr marL="360363" indent="-36036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Gravíssima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2512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14"/>
          <p:cNvSpPr txBox="1">
            <a:spLocks/>
          </p:cNvSpPr>
          <p:nvPr/>
        </p:nvSpPr>
        <p:spPr>
          <a:xfrm>
            <a:off x="214282" y="1285866"/>
            <a:ext cx="8429684" cy="3538347"/>
          </a:xfrm>
          <a:prstGeom prst="rect">
            <a:avLst/>
          </a:prstGeom>
        </p:spPr>
        <p:txBody>
          <a:bodyPr vert="horz">
            <a:normAutofit lnSpcReduction="10000"/>
          </a:bodyPr>
          <a:lstStyle/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400" b="1" dirty="0" smtClean="0">
                <a:latin typeface="Calibri" pitchFamily="34" charset="0"/>
                <a:cs typeface="Calibri" pitchFamily="34" charset="0"/>
              </a:rPr>
              <a:t>08 – A cassação do documento de habilitação ocorrerá quando o condutor cometer a seguinte infração:</a:t>
            </a:r>
          </a:p>
          <a:p>
            <a:pPr marL="514350" lvl="0" indent="-514350" algn="just">
              <a:spcBef>
                <a:spcPts val="600"/>
              </a:spcBef>
              <a:buClr>
                <a:schemeClr val="accent1"/>
              </a:buClr>
              <a:buSzPct val="70000"/>
            </a:pPr>
            <a:endParaRPr kumimoji="0" lang="pt-BR" sz="1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1950" lvl="0" indent="-3619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kumimoji="0" lang="pt-B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a)</a:t>
            </a: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Dirigir em velocidade superior a máxima em mais de 50%.</a:t>
            </a:r>
            <a:endParaRPr kumimoji="0" lang="pt-BR" sz="240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0363" lvl="0" indent="-360363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Dirigir ameaçando os pedestres que estejam atravessando a via pública.</a:t>
            </a:r>
          </a:p>
          <a:p>
            <a:pPr marL="360363" lvl="0" indent="-36036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</a:t>
            </a: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</a:rPr>
              <a:t>)</a:t>
            </a:r>
            <a:r>
              <a:rPr lang="pt-BR" sz="2400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Quando for encontrado dirigindo estando com o direito de dirigir suspenso.</a:t>
            </a:r>
            <a:endParaRPr lang="pt-BR" sz="2400" dirty="0" smtClean="0">
              <a:latin typeface="Calibri" pitchFamily="34" charset="0"/>
            </a:endParaRPr>
          </a:p>
          <a:p>
            <a:pPr marL="514350" lvl="0" indent="-51435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Deixar de prestar socorro à vítima de trânsito.</a:t>
            </a:r>
            <a:endParaRPr lang="pt-BR" sz="2400" dirty="0" smtClean="0">
              <a:latin typeface="Calibri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54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99313" y="3092450"/>
              <a:ext cx="53975" cy="20638"/>
            </p14:xfrm>
          </p:contentPart>
        </mc:Choice>
        <mc:Fallback xmlns="">
          <p:pic>
            <p:nvPicPr>
              <p:cNvPr id="2054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196794" y="3089916"/>
                <a:ext cx="59013" cy="25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55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670550" y="3811588"/>
              <a:ext cx="15875" cy="3175"/>
            </p14:xfrm>
          </p:contentPart>
        </mc:Choice>
        <mc:Fallback xmlns="">
          <p:pic>
            <p:nvPicPr>
              <p:cNvPr id="2055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667664" y="3808766"/>
                <a:ext cx="21648" cy="8819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234949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14"/>
          <p:cNvSpPr txBox="1">
            <a:spLocks/>
          </p:cNvSpPr>
          <p:nvPr/>
        </p:nvSpPr>
        <p:spPr>
          <a:xfrm>
            <a:off x="214282" y="1285866"/>
            <a:ext cx="8429684" cy="3538347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400" b="1" dirty="0" smtClean="0">
                <a:latin typeface="Calibri" pitchFamily="34" charset="0"/>
                <a:cs typeface="Calibri" pitchFamily="34" charset="0"/>
              </a:rPr>
              <a:t>09 – Ocorrerá a medida administrativa de “remoção do veículo” quando o condutor:</a:t>
            </a:r>
          </a:p>
          <a:p>
            <a:pPr marL="514350" lvl="0" indent="-514350" algn="just">
              <a:spcBef>
                <a:spcPts val="600"/>
              </a:spcBef>
              <a:buClr>
                <a:schemeClr val="accent1"/>
              </a:buClr>
              <a:buSzPct val="70000"/>
            </a:pPr>
            <a:endParaRPr kumimoji="0" lang="pt-BR" sz="1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1950" lvl="0" indent="-3619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kumimoji="0" lang="pt-B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a)</a:t>
            </a: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Tiver seu veículo imobilizado na via por falta de combustível.</a:t>
            </a:r>
            <a:endParaRPr kumimoji="0" lang="pt-BR" sz="240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0363" lvl="0" indent="-360363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Estacionar na contramão direcional.</a:t>
            </a:r>
          </a:p>
          <a:p>
            <a:pPr marL="360363" lvl="0" indent="-36036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</a:t>
            </a: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</a:rPr>
              <a:t>)</a:t>
            </a:r>
            <a:r>
              <a:rPr lang="pt-BR" sz="2400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Parar o veículo em desacordo com as posições estabelecidas pelo CTB.</a:t>
            </a:r>
            <a:endParaRPr lang="pt-BR" sz="2400" dirty="0" smtClean="0">
              <a:latin typeface="Calibri" pitchFamily="34" charset="0"/>
            </a:endParaRPr>
          </a:p>
          <a:p>
            <a:pPr marL="514350" lvl="0" indent="-51435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Deixar de prestar socorro à vítima de acidente de trânsito.</a:t>
            </a:r>
            <a:endParaRPr lang="pt-BR" sz="2400" dirty="0" smtClean="0">
              <a:latin typeface="Calibri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50247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14"/>
          <p:cNvSpPr txBox="1">
            <a:spLocks/>
          </p:cNvSpPr>
          <p:nvPr/>
        </p:nvSpPr>
        <p:spPr>
          <a:xfrm>
            <a:off x="214282" y="1285866"/>
            <a:ext cx="8429684" cy="3538347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/>
          <a:p>
            <a:pPr algn="just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600" b="1" dirty="0" smtClean="0">
                <a:latin typeface="Calibri" pitchFamily="34" charset="0"/>
                <a:cs typeface="Calibri" pitchFamily="34" charset="0"/>
              </a:rPr>
              <a:t>10 – O condutor que for flagrado conduzindo veículo automotor, com níveis iguais ou superiores a 6 dg de álcool por litro de sangue ou 0,34 </a:t>
            </a:r>
            <a:r>
              <a:rPr lang="pt-BR" sz="2600" b="1" dirty="0" err="1" smtClean="0">
                <a:latin typeface="Calibri" pitchFamily="34" charset="0"/>
                <a:cs typeface="Calibri" pitchFamily="34" charset="0"/>
              </a:rPr>
              <a:t>mg</a:t>
            </a:r>
            <a:r>
              <a:rPr lang="pt-BR" sz="2600" b="1" dirty="0" smtClean="0">
                <a:latin typeface="Calibri" pitchFamily="34" charset="0"/>
                <a:cs typeface="Calibri" pitchFamily="34" charset="0"/>
              </a:rPr>
              <a:t> de álcool por litro de ar expirado, estará cometendo crime de trânsito sujeito a detenção pelo prazo de:</a:t>
            </a:r>
          </a:p>
          <a:p>
            <a:pPr marL="514350" lvl="0" indent="-514350" algn="just">
              <a:spcBef>
                <a:spcPts val="600"/>
              </a:spcBef>
              <a:buClr>
                <a:schemeClr val="accent1"/>
              </a:buClr>
              <a:buSzPct val="70000"/>
            </a:pPr>
            <a:endParaRPr kumimoji="0" lang="pt-BR" sz="1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1950" lvl="0" indent="-36195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kumimoji="0" lang="pt-B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a)</a:t>
            </a:r>
            <a:r>
              <a:rPr kumimoji="0" lang="pt-B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1 a 4 anos.</a:t>
            </a:r>
            <a:endParaRPr kumimoji="0" lang="pt-BR" sz="24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360363" lvl="0" indent="-360363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6 meses a 3 anos.</a:t>
            </a:r>
          </a:p>
          <a:p>
            <a:pPr marL="360363" lvl="0" indent="-360363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</a:t>
            </a: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</a:rPr>
              <a:t>)</a:t>
            </a:r>
            <a:r>
              <a:rPr lang="pt-BR" sz="2400" dirty="0" smtClean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6 meses a 2 anos.</a:t>
            </a:r>
            <a:endParaRPr lang="pt-BR" sz="2400" dirty="0" smtClean="0">
              <a:latin typeface="Calibri" pitchFamily="34" charset="0"/>
            </a:endParaRPr>
          </a:p>
          <a:p>
            <a:pPr marL="514350" lvl="0" indent="-514350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d) </a:t>
            </a:r>
            <a:r>
              <a:rPr lang="pt-BR" sz="2400" dirty="0" smtClean="0">
                <a:latin typeface="Calibri" pitchFamily="34" charset="0"/>
                <a:cs typeface="Calibri" pitchFamily="34" charset="0"/>
              </a:rPr>
              <a:t>2 a 4 anos.</a:t>
            </a:r>
            <a:endParaRPr lang="pt-BR" sz="2400" dirty="0" smtClean="0">
              <a:latin typeface="Calibri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04099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/>
        </p:nvSpPr>
        <p:spPr>
          <a:xfrm>
            <a:off x="120519" y="1131590"/>
            <a:ext cx="8912867" cy="367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O pagamento da multa poderá ser efetuado até a data do vencimento expressa na notificação por: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20% do seu valor.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0363" marR="0" lvl="0" indent="-360363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b)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50% do seu valor.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0363" marR="0" lvl="0" indent="-360363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r>
              <a:rPr lang="pt-BR" sz="22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90% do seu valor.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d)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80% do seu valor.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230663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/>
        </p:nvSpPr>
        <p:spPr>
          <a:xfrm>
            <a:off x="119889" y="1131590"/>
            <a:ext cx="8920872" cy="375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150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As penalidades atribuídas pelos crimes cometidos na direção de veículo automotor não são agravadas quando o condutor dirigir: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600"/>
              </a:spcBef>
              <a:spcAft>
                <a:spcPts val="150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Sem possuir Permissão para Dirigir ou Carteira Nacional de Habilitação.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0363" marR="0" lvl="0" indent="-360363" algn="l" rtl="0">
              <a:spcBef>
                <a:spcPts val="600"/>
              </a:spcBef>
              <a:spcAft>
                <a:spcPts val="150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b)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Utilizando o veículo sem placas, com placas falsas ou adulteradas.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1463" marR="0" lvl="0" indent="-271463" algn="l" rtl="0">
              <a:spcBef>
                <a:spcPts val="600"/>
              </a:spcBef>
              <a:spcAft>
                <a:spcPts val="150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r>
              <a:rPr lang="pt-BR" sz="22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 Permissão para Dirigir ou Carteira Nacional de Habilitação de categoria diferente da do veículo.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600"/>
              </a:spcBef>
              <a:spcAft>
                <a:spcPts val="1500"/>
              </a:spcAft>
              <a:buClr>
                <a:srgbClr val="000000"/>
              </a:buClr>
              <a:buSzPts val="222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d)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 a Carteira Nacional de Habilitação vencida há mais de trinta dias.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26135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/>
        </p:nvSpPr>
        <p:spPr>
          <a:xfrm>
            <a:off x="120519" y="1131590"/>
            <a:ext cx="8920241" cy="3735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O condutor que tiver sua CNH cassada poderá reabilitar-se após: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 anos.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0363" marR="0" lvl="0" indent="-360363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b)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ano.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0363" marR="0" lvl="0" indent="-360363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r>
              <a:rPr lang="pt-BR" sz="22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anos.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0363" marR="0" lvl="0" indent="-360363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d)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anos.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211842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/>
        </p:nvSpPr>
        <p:spPr>
          <a:xfrm>
            <a:off x="120519" y="1131590"/>
            <a:ext cx="8920241" cy="375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A frequência obrigatória em curso de reciclagem, ocorrerá se o condutor:</a:t>
            </a: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a)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Tiver suspenso o direito de dirigir.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b)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envolver em acidente grave, para o qual haja contribuído.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0363" marR="0" lvl="0" indent="-360363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r>
              <a:rPr lang="pt-BR" sz="22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infrator contumaz, sendo necessária à sua reeducação.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0363" marR="0" lvl="0" indent="-360363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d)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Todas acima.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423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8"/>
          <p:cNvSpPr txBox="1"/>
          <p:nvPr/>
        </p:nvSpPr>
        <p:spPr>
          <a:xfrm>
            <a:off x="120519" y="1131590"/>
            <a:ext cx="8912867" cy="374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Não é crime de trânsito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Lesão corporal culposa.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b)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Homicídio culposo.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r>
              <a:rPr lang="pt-BR" sz="22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Omissão de socorro.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d)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Dirigir em excesso de velocidade.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="" xmlns:a16="http://schemas.microsoft.com/office/drawing/2014/main" id="{5BB50811-D124-4707-9D64-2C9DAFB17565}"/>
              </a:ext>
            </a:extLst>
          </p:cNvPr>
          <p:cNvSpPr/>
          <p:nvPr/>
        </p:nvSpPr>
        <p:spPr>
          <a:xfrm>
            <a:off x="8810254" y="4568229"/>
            <a:ext cx="3337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122331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94"/>
          <p:cNvSpPr txBox="1"/>
          <p:nvPr/>
        </p:nvSpPr>
        <p:spPr>
          <a:xfrm>
            <a:off x="120519" y="1131590"/>
            <a:ext cx="8920241" cy="374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pt-BR" sz="2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reincidência da suspensão do direito de dirigir, pelo acúmulo de 20 pontos, resultará em nova suspensão </a:t>
            </a:r>
            <a:r>
              <a:rPr lang="pt-BR" sz="2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cujo </a:t>
            </a:r>
            <a:r>
              <a:rPr lang="pt-BR" sz="2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prazo máximo </a:t>
            </a:r>
            <a:r>
              <a:rPr lang="pt-BR" sz="2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de</a:t>
            </a: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a)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meses.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b) </a:t>
            </a:r>
            <a:r>
              <a:rPr lang="pt-BR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meses.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r>
              <a:rPr lang="pt-BR" sz="22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 meses.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meses.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162838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6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16"/>
          <p:cNvSpPr txBox="1"/>
          <p:nvPr/>
        </p:nvSpPr>
        <p:spPr>
          <a:xfrm>
            <a:off x="120519" y="1131590"/>
            <a:ext cx="8912867" cy="374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Dirigir com falta de atenção e os cuidados indispensáveis à segurança do trânsito é infração punível com:</a:t>
            </a: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Advertência </a:t>
            </a:r>
            <a:r>
              <a:rPr lang="pt-BR" sz="2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pt-BR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escrito, aplicada pelo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Diretor do </a:t>
            </a:r>
            <a:r>
              <a:rPr lang="pt-BR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CONTRAN.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Advertência oral.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Multa e apreensão da CNH.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d)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Multa.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05094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7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20"/>
          <p:cNvSpPr txBox="1"/>
          <p:nvPr/>
        </p:nvSpPr>
        <p:spPr>
          <a:xfrm>
            <a:off x="119519" y="1062114"/>
            <a:ext cx="8921241" cy="3819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O </a:t>
            </a: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veículo que, sem autorização, transitar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 suas dimensões ou </a:t>
            </a: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carga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superiores aos limites estabelecidos </a:t>
            </a: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sinalização</a:t>
            </a: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 sujeito a:</a:t>
            </a: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Remoção do veículo.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Apreensão de veículo.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Retenção do veículo e multa.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Apreensão da CNH.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71118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7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57"/>
          <p:cNvSpPr txBox="1"/>
          <p:nvPr/>
        </p:nvSpPr>
        <p:spPr>
          <a:xfrm>
            <a:off x="120519" y="1131590"/>
            <a:ext cx="8920241" cy="375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Quando o condutor </a:t>
            </a: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ultrapassar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pela </a:t>
            </a: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contramão outro veículo, nas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curvas e aclives sem visibilidade suficiente, será punido com:</a:t>
            </a: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Retenção do veículo e multa.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b)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Remoção do veículo e multa.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Recolhimento do veículo ao depósito do DETRAN.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Multa.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267101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59"/>
          <p:cNvSpPr txBox="1"/>
          <p:nvPr/>
        </p:nvSpPr>
        <p:spPr>
          <a:xfrm>
            <a:off x="120519" y="1131590"/>
            <a:ext cx="8912867" cy="374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Quando o condutor estacionar o veículo nos viadutos, pontes e túneis será punido com:</a:t>
            </a: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Retenção do veículo.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b) 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Remoção do veículo e multa.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Multa, apenas.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Recolhimento do CRV e multa.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70848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9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76"/>
          <p:cNvSpPr txBox="1"/>
          <p:nvPr/>
        </p:nvSpPr>
        <p:spPr>
          <a:xfrm>
            <a:off x="119519" y="1131590"/>
            <a:ext cx="8921241" cy="3742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20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 </a:t>
            </a:r>
            <a:r>
              <a:rPr lang="pt-BR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Marcelo e Bárbara passaram na prova de direção veicular dia 19 de novembro de 2009. No dia 10 de dezembro do mesmo ano eles foram flagrados avançando o sinal vermelho do semáforo enquanto se cumprimentavam. </a:t>
            </a:r>
            <a:r>
              <a:rPr lang="pt-BR" sz="20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Além da multa, quais outras sanções lhes são aplicáveis?</a:t>
            </a:r>
            <a:endParaRPr lang="pt-BR" sz="2000" b="1" i="0" u="none" strike="noStrike" cap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Suspensão da CNH e frequência obrigatória em 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curso de reciclagem.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50000"/>
              </a:lnSpc>
              <a:buClr>
                <a:srgbClr val="000000"/>
              </a:buClr>
              <a:buSzPts val="1700"/>
            </a:pPr>
            <a:r>
              <a:rPr lang="pt-BR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Suspensão da </a:t>
            </a:r>
            <a:r>
              <a:rPr lang="pt-BR" sz="2000" dirty="0" smtClean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PPD </a:t>
            </a:r>
            <a:r>
              <a:rPr lang="pt-BR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 frequência obrigatória em curso de reciclagem.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5113" marR="0" lvl="0" indent="-265113" algn="l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pt-BR" sz="2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CNH não será emitida 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pt-BR" sz="2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terão 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reiniciar </a:t>
            </a:r>
            <a:r>
              <a:rPr lang="pt-BR" sz="2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 o 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 de habilitação.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d) 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pt-BR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suspensão da </a:t>
            </a:r>
            <a:r>
              <a:rPr lang="pt-BR" sz="2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CNH e terão que reiniciar todo o 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 de habilitação.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418656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0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184"/>
          <p:cNvSpPr txBox="1"/>
          <p:nvPr/>
        </p:nvSpPr>
        <p:spPr>
          <a:xfrm>
            <a:off x="119519" y="1131590"/>
            <a:ext cx="8913867" cy="375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 </a:t>
            </a:r>
            <a:r>
              <a:rPr lang="pt-BR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pt-BR" sz="2200" b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recurso em segunda instância, de decisão da JARI, por penalidade imposta por órgão executivo de trânsito estadual, será remetido a quem</a:t>
            </a:r>
            <a:r>
              <a:rPr lang="pt-BR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JARI.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Contran.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65113" marR="0" lvl="0" indent="-265113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r>
              <a:rPr lang="pt-BR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200" b="0" i="0" u="none" strike="noStrike" cap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Cetran</a:t>
            </a:r>
            <a:r>
              <a:rPr lang="pt-BR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d) </a:t>
            </a:r>
            <a:r>
              <a:rPr lang="pt-BR" sz="2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Denatran</a:t>
            </a:r>
            <a:r>
              <a:rPr lang="pt-BR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427585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266"/>
          <p:cNvSpPr txBox="1"/>
          <p:nvPr/>
        </p:nvSpPr>
        <p:spPr>
          <a:xfrm>
            <a:off x="115909" y="1131590"/>
            <a:ext cx="8924852" cy="375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sz="2200" b="1" dirty="0" smtClean="0">
                <a:latin typeface="Calibri" panose="020F0502020204030204" pitchFamily="34" charset="0"/>
              </a:rPr>
              <a:t>23 </a:t>
            </a:r>
            <a:r>
              <a:rPr lang="pt-BR" sz="2200" b="1" dirty="0" smtClean="0">
                <a:latin typeface="Calibri" panose="020F0502020204030204" pitchFamily="34" charset="0"/>
              </a:rPr>
              <a:t>– </a:t>
            </a:r>
            <a:r>
              <a:rPr lang="pt-BR" sz="2200" b="1" dirty="0" smtClean="0">
                <a:latin typeface="Calibri" panose="020F0502020204030204" pitchFamily="34" charset="0"/>
              </a:rPr>
              <a:t>O Condutor autuado por </a:t>
            </a:r>
            <a:r>
              <a:rPr lang="pt-BR" sz="2200" b="1" dirty="0" smtClean="0">
                <a:latin typeface="Calibri" panose="020F0502020204030204" pitchFamily="34" charset="0"/>
              </a:rPr>
              <a:t>dirigir </a:t>
            </a:r>
            <a:r>
              <a:rPr lang="pt-BR" sz="2200" b="1" dirty="0">
                <a:latin typeface="Calibri" panose="020F0502020204030204" pitchFamily="34" charset="0"/>
              </a:rPr>
              <a:t>com </a:t>
            </a:r>
            <a:r>
              <a:rPr lang="pt-BR" sz="2200" b="1" dirty="0" smtClean="0">
                <a:latin typeface="Calibri" panose="020F0502020204030204" pitchFamily="34" charset="0"/>
              </a:rPr>
              <a:t>habilitação </a:t>
            </a:r>
            <a:r>
              <a:rPr lang="pt-BR" sz="2200" b="1" dirty="0">
                <a:latin typeface="Calibri" panose="020F0502020204030204" pitchFamily="34" charset="0"/>
              </a:rPr>
              <a:t>de categoria diferente da </a:t>
            </a:r>
            <a:r>
              <a:rPr lang="pt-BR" sz="2200" b="1" dirty="0" smtClean="0">
                <a:latin typeface="Calibri" panose="020F0502020204030204" pitchFamily="34" charset="0"/>
              </a:rPr>
              <a:t>exigida para o </a:t>
            </a:r>
            <a:r>
              <a:rPr lang="pt-BR" sz="2200" b="1" dirty="0">
                <a:latin typeface="Calibri" panose="020F0502020204030204" pitchFamily="34" charset="0"/>
              </a:rPr>
              <a:t>veículo que </a:t>
            </a:r>
            <a:r>
              <a:rPr lang="pt-BR" sz="2200" b="1" dirty="0" smtClean="0">
                <a:latin typeface="Calibri" panose="020F0502020204030204" pitchFamily="34" charset="0"/>
              </a:rPr>
              <a:t>está </a:t>
            </a:r>
            <a:r>
              <a:rPr lang="pt-BR" sz="2200" b="1" dirty="0">
                <a:latin typeface="Calibri" panose="020F0502020204030204" pitchFamily="34" charset="0"/>
              </a:rPr>
              <a:t>conduzindo, </a:t>
            </a:r>
            <a:r>
              <a:rPr lang="pt-BR" sz="2200" b="1" dirty="0" smtClean="0">
                <a:latin typeface="Calibri" panose="020F0502020204030204" pitchFamily="34" charset="0"/>
              </a:rPr>
              <a:t>está sujeito à</a:t>
            </a:r>
            <a:endParaRPr lang="pt-BR" sz="2200" b="1" dirty="0" smtClean="0">
              <a:latin typeface="Calibri" panose="020F0502020204030204" pitchFamily="34" charset="0"/>
            </a:endParaRPr>
          </a:p>
          <a:p>
            <a:pPr lvl="0"/>
            <a:endParaRPr lang="pt-BR" sz="2400" dirty="0"/>
          </a:p>
          <a:p>
            <a:pPr lvl="0">
              <a:spcAft>
                <a:spcPts val="1800"/>
              </a:spcAft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a)</a:t>
            </a:r>
            <a:r>
              <a:rPr lang="pt-BR" sz="2200" dirty="0">
                <a:latin typeface="Calibri" panose="020F0502020204030204" pitchFamily="34" charset="0"/>
              </a:rPr>
              <a:t> </a:t>
            </a:r>
            <a:r>
              <a:rPr lang="pt-BR" sz="2200" dirty="0" smtClean="0">
                <a:latin typeface="Calibri" panose="020F0502020204030204" pitchFamily="34" charset="0"/>
              </a:rPr>
              <a:t>apenas </a:t>
            </a:r>
            <a:r>
              <a:rPr lang="pt-BR" sz="2200" dirty="0">
                <a:latin typeface="Calibri" panose="020F0502020204030204" pitchFamily="34" charset="0"/>
              </a:rPr>
              <a:t>multa.</a:t>
            </a:r>
          </a:p>
          <a:p>
            <a:pPr lvl="0">
              <a:spcAft>
                <a:spcPts val="1800"/>
              </a:spcAft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b)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multa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(2 vezes) e retenção do veículo.</a:t>
            </a:r>
          </a:p>
          <a:p>
            <a:pPr lvl="0">
              <a:spcAft>
                <a:spcPts val="1800"/>
              </a:spcAft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c)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advertência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por escrito e remoção do veículo.</a:t>
            </a:r>
          </a:p>
          <a:p>
            <a:pPr lvl="0">
              <a:spcAft>
                <a:spcPts val="1800"/>
              </a:spcAft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d)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apreensão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do veículo e cassação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da Carteira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Nacional de Habilitação.</a:t>
            </a:r>
            <a:endParaRPr sz="22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428794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6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266"/>
          <p:cNvSpPr txBox="1"/>
          <p:nvPr/>
        </p:nvSpPr>
        <p:spPr>
          <a:xfrm>
            <a:off x="115909" y="1131590"/>
            <a:ext cx="8924852" cy="375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sz="2200" b="1" dirty="0" smtClean="0">
                <a:latin typeface="Calibri" panose="020F0502020204030204" pitchFamily="34" charset="0"/>
              </a:rPr>
              <a:t>24 – O condutor que for penalizado por transitar em velocidade superior à máxima em mais de 50%, terá </a:t>
            </a:r>
            <a:r>
              <a:rPr lang="pt-BR" sz="2200" b="1" dirty="0" smtClean="0">
                <a:latin typeface="Calibri" panose="020F0502020204030204" pitchFamily="34" charset="0"/>
              </a:rPr>
              <a:t>computados quantos pontos em sua CNH?</a:t>
            </a:r>
            <a:endParaRPr lang="pt-BR" sz="2200" b="1" dirty="0">
              <a:latin typeface="Calibri" panose="020F0502020204030204" pitchFamily="34" charset="0"/>
            </a:endParaRPr>
          </a:p>
          <a:p>
            <a:pPr lvl="0"/>
            <a:endParaRPr lang="pt-BR" sz="2000" dirty="0"/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a)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7 (sete).</a:t>
            </a:r>
            <a:endParaRPr lang="pt-BR" sz="22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b)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21 (vinte e um).</a:t>
            </a:r>
            <a:endParaRPr lang="pt-BR" sz="22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c)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Nenhum ponto.</a:t>
            </a:r>
            <a:endParaRPr lang="pt-BR" sz="22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d)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5 (pontos).</a:t>
            </a:r>
            <a:endParaRPr sz="22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168344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6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266"/>
          <p:cNvSpPr txBox="1"/>
          <p:nvPr/>
        </p:nvSpPr>
        <p:spPr>
          <a:xfrm>
            <a:off x="115909" y="1131590"/>
            <a:ext cx="8924852" cy="375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sz="2200" b="1" dirty="0" smtClean="0">
                <a:latin typeface="Calibri" panose="020F0502020204030204" pitchFamily="34" charset="0"/>
              </a:rPr>
              <a:t>25 </a:t>
            </a:r>
            <a:r>
              <a:rPr lang="pt-BR" sz="2200" b="1" dirty="0">
                <a:latin typeface="Calibri" panose="020F0502020204030204" pitchFamily="34" charset="0"/>
              </a:rPr>
              <a:t>- </a:t>
            </a:r>
            <a:r>
              <a:rPr lang="pt-BR" sz="2200" b="1" dirty="0" smtClean="0">
                <a:latin typeface="Calibri" panose="020F0502020204030204" pitchFamily="34" charset="0"/>
              </a:rPr>
              <a:t>A responsabilidade </a:t>
            </a:r>
            <a:r>
              <a:rPr lang="pt-BR" sz="2200" b="1" dirty="0">
                <a:latin typeface="Calibri" panose="020F0502020204030204" pitchFamily="34" charset="0"/>
              </a:rPr>
              <a:t>pelas infrações </a:t>
            </a:r>
            <a:r>
              <a:rPr lang="pt-BR" sz="2200" b="1" dirty="0" smtClean="0">
                <a:latin typeface="Calibri" panose="020F0502020204030204" pitchFamily="34" charset="0"/>
              </a:rPr>
              <a:t>referentes </a:t>
            </a:r>
            <a:r>
              <a:rPr lang="pt-BR" sz="2200" b="1" dirty="0">
                <a:latin typeface="Calibri" panose="020F0502020204030204" pitchFamily="34" charset="0"/>
              </a:rPr>
              <a:t>a atos praticados na direção </a:t>
            </a:r>
            <a:r>
              <a:rPr lang="pt-BR" sz="2200" b="1" dirty="0" smtClean="0">
                <a:latin typeface="Calibri" panose="020F0502020204030204" pitchFamily="34" charset="0"/>
              </a:rPr>
              <a:t>de </a:t>
            </a:r>
            <a:r>
              <a:rPr lang="pt-BR" sz="2200" b="1" dirty="0" smtClean="0">
                <a:latin typeface="Calibri" panose="020F0502020204030204" pitchFamily="34" charset="0"/>
              </a:rPr>
              <a:t>veículo, cabe</a:t>
            </a:r>
            <a:endParaRPr lang="pt-BR" sz="2200" b="1" dirty="0">
              <a:latin typeface="Calibri" panose="020F0502020204030204" pitchFamily="34" charset="0"/>
            </a:endParaRPr>
          </a:p>
          <a:p>
            <a:pPr lvl="0"/>
            <a:endParaRPr lang="pt-BR" sz="2000" dirty="0"/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a)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ao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proprietário do veículo.</a:t>
            </a: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b)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ao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proprietário do veículo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e ao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do condutor.</a:t>
            </a: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c)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aos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pais ou responsáveis pelo condutor.</a:t>
            </a: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d)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ao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condutor.</a:t>
            </a:r>
            <a:endParaRPr sz="22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724135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6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266"/>
          <p:cNvSpPr txBox="1"/>
          <p:nvPr/>
        </p:nvSpPr>
        <p:spPr>
          <a:xfrm>
            <a:off x="115909" y="1131590"/>
            <a:ext cx="8924852" cy="375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sz="2200" b="1" dirty="0" smtClean="0">
                <a:latin typeface="Calibri" panose="020F0502020204030204" pitchFamily="34" charset="0"/>
              </a:rPr>
              <a:t>26 </a:t>
            </a:r>
            <a:r>
              <a:rPr lang="pt-BR" sz="2200" b="1" dirty="0" smtClean="0">
                <a:latin typeface="Calibri" panose="020F0502020204030204" pitchFamily="34" charset="0"/>
              </a:rPr>
              <a:t>– </a:t>
            </a:r>
            <a:r>
              <a:rPr lang="pt-BR" sz="2200" b="1" dirty="0" smtClean="0">
                <a:latin typeface="Calibri" panose="020F0502020204030204" pitchFamily="34" charset="0"/>
              </a:rPr>
              <a:t>O condutor que for autuado por transitar em velocidade superior à máxima em mais de 50% será penalizado com</a:t>
            </a:r>
            <a:endParaRPr lang="pt-BR" sz="2200" b="1" dirty="0">
              <a:latin typeface="Calibri" panose="020F0502020204030204" pitchFamily="34" charset="0"/>
            </a:endParaRPr>
          </a:p>
          <a:p>
            <a:pPr lvl="0"/>
            <a:endParaRPr lang="pt-BR" sz="2000" dirty="0"/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a)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advertência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por escrito.</a:t>
            </a: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b)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multa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e suspensão do direito de dirigir.</a:t>
            </a: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c)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multa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.</a:t>
            </a: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d)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multa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(3x)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e suspensão do direito de dirigir.</a:t>
            </a:r>
            <a:endParaRPr sz="22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437579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6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266"/>
          <p:cNvSpPr txBox="1"/>
          <p:nvPr/>
        </p:nvSpPr>
        <p:spPr>
          <a:xfrm>
            <a:off x="115909" y="1131590"/>
            <a:ext cx="8924852" cy="375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sz="2200" b="1" dirty="0" smtClean="0">
                <a:latin typeface="Calibri" panose="020F0502020204030204" pitchFamily="34" charset="0"/>
              </a:rPr>
              <a:t>27 – Segurar ou manusear celular enquanto dirige é uma infração de trânsito de </a:t>
            </a:r>
            <a:r>
              <a:rPr lang="pt-BR" sz="2200" b="1" dirty="0" smtClean="0">
                <a:latin typeface="Calibri" panose="020F0502020204030204" pitchFamily="34" charset="0"/>
              </a:rPr>
              <a:t>natureza</a:t>
            </a:r>
            <a:endParaRPr lang="pt-BR" sz="2200" b="1" dirty="0">
              <a:latin typeface="Calibri" panose="020F0502020204030204" pitchFamily="34" charset="0"/>
            </a:endParaRPr>
          </a:p>
          <a:p>
            <a:pPr lvl="0"/>
            <a:endParaRPr lang="pt-BR" sz="2000" dirty="0"/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a)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média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.</a:t>
            </a:r>
            <a:endParaRPr lang="pt-BR" sz="22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b)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grave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.</a:t>
            </a:r>
            <a:endParaRPr lang="pt-BR" sz="22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c) </a:t>
            </a:r>
            <a:r>
              <a:rPr lang="pt-BR" sz="2200" dirty="0" smtClean="0">
                <a:latin typeface="Calibri" panose="020F0502020204030204" pitchFamily="34" charset="0"/>
              </a:rPr>
              <a:t>leve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.</a:t>
            </a:r>
            <a:endParaRPr lang="pt-BR" sz="22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d)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gravíssima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.</a:t>
            </a:r>
            <a:endParaRPr sz="22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5407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6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266"/>
          <p:cNvSpPr txBox="1"/>
          <p:nvPr/>
        </p:nvSpPr>
        <p:spPr>
          <a:xfrm>
            <a:off x="107504" y="1063379"/>
            <a:ext cx="8924852" cy="375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Aft>
                <a:spcPts val="1800"/>
              </a:spcAft>
            </a:pPr>
            <a:r>
              <a:rPr lang="pt-BR" sz="2000" b="1" dirty="0" smtClean="0">
                <a:latin typeface="Calibri" panose="020F0502020204030204" pitchFamily="34" charset="0"/>
              </a:rPr>
              <a:t>28 </a:t>
            </a:r>
            <a:r>
              <a:rPr lang="pt-BR" sz="2000" b="1" dirty="0">
                <a:latin typeface="Calibri" panose="020F0502020204030204" pitchFamily="34" charset="0"/>
              </a:rPr>
              <a:t>- Sobre aplicação das penalidades, verifique qual das alternativas abaixo é incorreta</a:t>
            </a:r>
            <a:r>
              <a:rPr lang="pt-BR" sz="2000" b="1" dirty="0" smtClean="0">
                <a:latin typeface="Calibri" panose="020F0502020204030204" pitchFamily="34" charset="0"/>
              </a:rPr>
              <a:t>:</a:t>
            </a:r>
          </a:p>
          <a:p>
            <a:pPr marL="265113" lvl="0" indent="-265113">
              <a:spcAft>
                <a:spcPts val="1800"/>
              </a:spcAft>
            </a:pPr>
            <a:r>
              <a:rPr lang="pt-BR" sz="20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a) </a:t>
            </a:r>
            <a:r>
              <a:rPr lang="pt-BR" sz="2000" dirty="0" smtClean="0">
                <a:solidFill>
                  <a:schemeClr val="tx1"/>
                </a:solidFill>
                <a:latin typeface="Calibri" panose="020F0502020204030204" pitchFamily="34" charset="0"/>
              </a:rPr>
              <a:t>Serão </a:t>
            </a:r>
            <a:r>
              <a:rPr lang="pt-BR" sz="2000" dirty="0">
                <a:solidFill>
                  <a:schemeClr val="tx1"/>
                </a:solidFill>
                <a:latin typeface="Calibri" panose="020F0502020204030204" pitchFamily="34" charset="0"/>
              </a:rPr>
              <a:t>impostas ao condutor, ao proprietário do veículo ao embarcador e ao transportador</a:t>
            </a:r>
            <a:r>
              <a:rPr lang="pt-BR" sz="2000" dirty="0" smtClean="0">
                <a:solidFill>
                  <a:schemeClr val="tx1"/>
                </a:solidFill>
                <a:latin typeface="Calibri" panose="020F0502020204030204" pitchFamily="34" charset="0"/>
              </a:rPr>
              <a:t>.</a:t>
            </a:r>
          </a:p>
          <a:p>
            <a:pPr marL="265113" lvl="0" indent="-265113">
              <a:spcAft>
                <a:spcPts val="1800"/>
              </a:spcAft>
            </a:pPr>
            <a:r>
              <a:rPr lang="pt-BR" sz="20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b</a:t>
            </a: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) </a:t>
            </a:r>
            <a:r>
              <a:rPr lang="pt-BR" sz="2000" dirty="0">
                <a:solidFill>
                  <a:schemeClr val="tx1"/>
                </a:solidFill>
                <a:latin typeface="Calibri" panose="020F0502020204030204" pitchFamily="34" charset="0"/>
              </a:rPr>
              <a:t>Não sendo imediata a identificação do infrator, o proprietário terá 30 dias de prazo para apresentá-lo</a:t>
            </a:r>
            <a:r>
              <a:rPr lang="pt-BR" sz="2000" dirty="0" smtClean="0">
                <a:solidFill>
                  <a:schemeClr val="tx1"/>
                </a:solidFill>
                <a:latin typeface="Calibri" panose="020F0502020204030204" pitchFamily="34" charset="0"/>
              </a:rPr>
              <a:t>.</a:t>
            </a:r>
          </a:p>
          <a:p>
            <a:pPr marL="265113" lvl="0" indent="-265113">
              <a:spcAft>
                <a:spcPts val="1800"/>
              </a:spcAft>
            </a:pPr>
            <a:r>
              <a:rPr lang="pt-BR" sz="20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c</a:t>
            </a: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) </a:t>
            </a:r>
            <a:r>
              <a:rPr lang="pt-BR" sz="2000" dirty="0">
                <a:solidFill>
                  <a:schemeClr val="tx1"/>
                </a:solidFill>
                <a:latin typeface="Calibri" panose="020F0502020204030204" pitchFamily="34" charset="0"/>
              </a:rPr>
              <a:t>Não sendo imediata a identificação do infrator, o </a:t>
            </a:r>
            <a:r>
              <a:rPr lang="pt-BR" sz="2000" dirty="0" smtClean="0">
                <a:solidFill>
                  <a:schemeClr val="tx1"/>
                </a:solidFill>
                <a:latin typeface="Calibri" panose="020F0502020204030204" pitchFamily="34" charset="0"/>
              </a:rPr>
              <a:t>proprietário terá </a:t>
            </a:r>
            <a:r>
              <a:rPr lang="pt-BR" sz="2000" dirty="0">
                <a:solidFill>
                  <a:schemeClr val="tx1"/>
                </a:solidFill>
                <a:latin typeface="Calibri" panose="020F0502020204030204" pitchFamily="34" charset="0"/>
              </a:rPr>
              <a:t>15 dias de prazo para apresentá-lo</a:t>
            </a:r>
            <a:r>
              <a:rPr lang="pt-BR" sz="2000" dirty="0" smtClean="0">
                <a:solidFill>
                  <a:schemeClr val="tx1"/>
                </a:solidFill>
                <a:latin typeface="Calibri" panose="020F0502020204030204" pitchFamily="34" charset="0"/>
              </a:rPr>
              <a:t>.</a:t>
            </a:r>
          </a:p>
          <a:p>
            <a:pPr marL="265113" lvl="0" indent="-265113">
              <a:spcAft>
                <a:spcPts val="1800"/>
              </a:spcAft>
            </a:pPr>
            <a:r>
              <a:rPr lang="pt-BR" sz="20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d</a:t>
            </a:r>
            <a:r>
              <a:rPr lang="pt-BR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) </a:t>
            </a:r>
            <a:r>
              <a:rPr lang="pt-BR" sz="2000" dirty="0">
                <a:solidFill>
                  <a:schemeClr val="tx1"/>
                </a:solidFill>
                <a:latin typeface="Calibri" panose="020F0502020204030204" pitchFamily="34" charset="0"/>
              </a:rPr>
              <a:t>A penalidade de multa poderá ser transformada </a:t>
            </a:r>
            <a:r>
              <a:rPr lang="pt-BR" sz="2000" dirty="0" smtClean="0">
                <a:solidFill>
                  <a:schemeClr val="tx1"/>
                </a:solidFill>
                <a:latin typeface="Calibri" panose="020F0502020204030204" pitchFamily="34" charset="0"/>
              </a:rPr>
              <a:t>em advertência </a:t>
            </a:r>
            <a:r>
              <a:rPr lang="pt-BR" sz="2000" dirty="0">
                <a:solidFill>
                  <a:schemeClr val="tx1"/>
                </a:solidFill>
                <a:latin typeface="Calibri" panose="020F0502020204030204" pitchFamily="34" charset="0"/>
              </a:rPr>
              <a:t>por escrito.</a:t>
            </a:r>
            <a:endParaRPr sz="20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340607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6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266"/>
          <p:cNvSpPr txBox="1"/>
          <p:nvPr/>
        </p:nvSpPr>
        <p:spPr>
          <a:xfrm>
            <a:off x="115909" y="1062114"/>
            <a:ext cx="8924852" cy="3819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sz="2200" b="1" dirty="0" smtClean="0">
                <a:latin typeface="Calibri" panose="020F0502020204030204" pitchFamily="34" charset="0"/>
              </a:rPr>
              <a:t>29 </a:t>
            </a:r>
            <a:r>
              <a:rPr lang="pt-BR" sz="2200" b="1" dirty="0">
                <a:latin typeface="Calibri" panose="020F0502020204030204" pitchFamily="34" charset="0"/>
              </a:rPr>
              <a:t>- Dirigir um veículo </a:t>
            </a:r>
            <a:r>
              <a:rPr lang="pt-BR" sz="2200" b="1" dirty="0" smtClean="0">
                <a:latin typeface="Calibri" panose="020F0502020204030204" pitchFamily="34" charset="0"/>
              </a:rPr>
              <a:t>estando com </a:t>
            </a:r>
            <a:r>
              <a:rPr lang="pt-BR" sz="2200" b="1" dirty="0">
                <a:latin typeface="Calibri" panose="020F0502020204030204" pitchFamily="34" charset="0"/>
              </a:rPr>
              <a:t>a validade da CNH vencida há mais de 30 dias, caracteriza </a:t>
            </a:r>
            <a:r>
              <a:rPr lang="pt-BR" sz="2200" b="1" dirty="0" smtClean="0">
                <a:latin typeface="Calibri" panose="020F0502020204030204" pitchFamily="34" charset="0"/>
              </a:rPr>
              <a:t>infração</a:t>
            </a:r>
            <a:endParaRPr lang="pt-BR" sz="2200" b="1" dirty="0">
              <a:latin typeface="Calibri" panose="020F0502020204030204" pitchFamily="34" charset="0"/>
            </a:endParaRPr>
          </a:p>
          <a:p>
            <a:pPr lvl="0"/>
            <a:endParaRPr lang="pt-BR" sz="2000" dirty="0"/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a)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gravíssima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, com multa e remoção do veículo.</a:t>
            </a: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b)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grave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, com multa e retenção do veículo.</a:t>
            </a: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c)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gravíssima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, com recolhimento da CNH e retenção do veículo.</a:t>
            </a: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d) </a:t>
            </a:r>
            <a:r>
              <a:rPr lang="pt-BR" sz="2200" dirty="0" smtClean="0">
                <a:solidFill>
                  <a:schemeClr val="tx1"/>
                </a:solidFill>
                <a:latin typeface="Calibri" panose="020F0502020204030204" pitchFamily="34" charset="0"/>
              </a:rPr>
              <a:t>gravíssima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, com multa somente.</a:t>
            </a:r>
            <a:endParaRPr sz="22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151804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6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266"/>
          <p:cNvSpPr txBox="1"/>
          <p:nvPr/>
        </p:nvSpPr>
        <p:spPr>
          <a:xfrm>
            <a:off x="115909" y="1062114"/>
            <a:ext cx="8924852" cy="3819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sz="2200" b="1" dirty="0" smtClean="0">
                <a:latin typeface="Calibri" panose="020F0502020204030204" pitchFamily="34" charset="0"/>
              </a:rPr>
              <a:t>30 </a:t>
            </a:r>
            <a:r>
              <a:rPr lang="pt-BR" sz="2200" b="1" dirty="0">
                <a:latin typeface="Calibri" panose="020F0502020204030204" pitchFamily="34" charset="0"/>
              </a:rPr>
              <a:t>- Deixar de dar preferência de passagem em interseção não sinalizada é infração:</a:t>
            </a:r>
          </a:p>
          <a:p>
            <a:pPr lvl="0"/>
            <a:endParaRPr lang="pt-BR" sz="2000" dirty="0"/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a)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Gravíssima.</a:t>
            </a: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b)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Grave.</a:t>
            </a: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c)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Média.</a:t>
            </a:r>
          </a:p>
          <a:p>
            <a:pPr marL="265113" lvl="0" indent="-265113">
              <a:lnSpc>
                <a:spcPct val="150000"/>
              </a:lnSpc>
            </a:pPr>
            <a:r>
              <a:rPr lang="pt-BR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d) </a:t>
            </a:r>
            <a:r>
              <a:rPr lang="pt-BR" sz="2200" dirty="0">
                <a:solidFill>
                  <a:schemeClr val="tx1"/>
                </a:solidFill>
                <a:latin typeface="Calibri" panose="020F0502020204030204" pitchFamily="34" charset="0"/>
              </a:rPr>
              <a:t>Leve.</a:t>
            </a:r>
            <a:endParaRPr sz="22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"/>
          <a:stretch/>
        </p:blipFill>
        <p:spPr>
          <a:xfrm>
            <a:off x="-3854" y="555526"/>
            <a:ext cx="4863886" cy="48481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14282" y="577298"/>
            <a:ext cx="47897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 smtClean="0"/>
              <a:t>QUESTÕES COMENTADAS</a:t>
            </a:r>
            <a:endParaRPr lang="pt-BR" sz="1000" b="1" dirty="0"/>
          </a:p>
        </p:txBody>
      </p:sp>
    </p:spTree>
    <p:extLst>
      <p:ext uri="{BB962C8B-B14F-4D97-AF65-F5344CB8AC3E}">
        <p14:creationId xmlns:p14="http://schemas.microsoft.com/office/powerpoint/2010/main" val="28300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6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AEOnLine1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00"/>
        </a:solidFill>
        <a:ln>
          <a:solidFill>
            <a:srgbClr val="FF0000"/>
          </a:solidFill>
        </a:ln>
      </a:spPr>
      <a:bodyPr rtlCol="0" anchor="ctr"/>
      <a:lstStyle>
        <a:defPPr algn="ctr">
          <a:defRPr sz="1600" b="1" dirty="0" smtClean="0">
            <a:solidFill>
              <a:srgbClr val="FF0000"/>
            </a:solidFill>
            <a:latin typeface="Calibri" pitchFamily="34" charset="0"/>
            <a:cs typeface="Calibri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AEOnLine1</Template>
  <TotalTime>11820</TotalTime>
  <Words>4953</Words>
  <Application>Microsoft Office PowerPoint</Application>
  <PresentationFormat>Apresentação na tela (16:9)</PresentationFormat>
  <Paragraphs>601</Paragraphs>
  <Slides>66</Slides>
  <Notes>66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66</vt:i4>
      </vt:variant>
    </vt:vector>
  </HeadingPairs>
  <TitlesOfParts>
    <vt:vector size="70" baseType="lpstr">
      <vt:lpstr>Arial</vt:lpstr>
      <vt:lpstr>Calibri</vt:lpstr>
      <vt:lpstr>Wingdings</vt:lpstr>
      <vt:lpstr>Tema AEOnLine1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AERaça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SalaDeAula</dc:creator>
  <cp:lastModifiedBy>ESCRITÓRIO</cp:lastModifiedBy>
  <cp:revision>1447</cp:revision>
  <dcterms:created xsi:type="dcterms:W3CDTF">2012-09-21T18:40:16Z</dcterms:created>
  <dcterms:modified xsi:type="dcterms:W3CDTF">2019-10-03T16:13:16Z</dcterms:modified>
</cp:coreProperties>
</file>